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40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_rels/slideMaster3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.xml.rels" ContentType="application/vnd.openxmlformats-package.relationships+xml"/>
  <Override PartName="/ppt/slideMasters/slideMaster49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56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16.svg" ContentType="image/sv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.jpeg" ContentType="image/jpeg"/>
  <Override PartName="/ppt/media/image10.png" ContentType="image/png"/>
  <Override PartName="/ppt/media/image4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2.png" ContentType="image/png"/>
  <Override PartName="/ppt/media/image34.png" ContentType="image/png"/>
  <Override PartName="/ppt/media/image27.png" ContentType="image/png"/>
  <Override PartName="/ppt/media/image3.wmf" ContentType="image/x-wmf"/>
  <Override PartName="/ppt/media/image14.png" ContentType="image/png"/>
  <Override PartName="/ppt/media/image5.png" ContentType="image/png"/>
  <Override PartName="/ppt/media/image37.png" ContentType="image/png"/>
  <Override PartName="/ppt/media/image35.png" ContentType="image/png"/>
  <Override PartName="/ppt/media/image40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50.png" ContentType="image/png"/>
  <Override PartName="/ppt/media/image13.png" ContentType="image/png"/>
  <Override PartName="/ppt/media/image51.png" ContentType="image/png"/>
  <Override PartName="/ppt/media/image41.png" ContentType="image/png"/>
  <Override PartName="/ppt/media/image7.png" ContentType="image/png"/>
  <Override PartName="/ppt/media/image39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8.png" ContentType="image/png"/>
  <Override PartName="/ppt/media/image9.svg" ContentType="image/svg"/>
  <Override PartName="/ppt/media/image17.png" ContentType="image/png"/>
  <Override PartName="/ppt/media/image33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28.png" ContentType="image/png"/>
  <Override PartName="/ppt/media/image4.png" ContentType="image/png"/>
  <Override PartName="/ppt/media/image36.png" ContentType="image/png"/>
  <Override PartName="/ppt/media/image11.jpeg" ContentType="image/jpeg"/>
  <Override PartName="/ppt/media/image52.png" ContentType="image/png"/>
  <Override PartName="/ppt/media/image49.png" ContentType="image/png"/>
  <Override PartName="/ppt/media/image1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22.xml" ContentType="application/vnd.openxmlformats-officedocument.presentationml.slideLayout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6" r:id="rId5"/>
    <p:sldMasterId id="2147483683" r:id="rId6"/>
    <p:sldMasterId id="2147483686" r:id="rId7"/>
    <p:sldMasterId id="2147483688" r:id="rId8"/>
    <p:sldMasterId id="2147483690" r:id="rId9"/>
    <p:sldMasterId id="2147483692" r:id="rId10"/>
    <p:sldMasterId id="2147483694" r:id="rId11"/>
    <p:sldMasterId id="2147483696" r:id="rId12"/>
    <p:sldMasterId id="2147483698" r:id="rId13"/>
    <p:sldMasterId id="2147483700" r:id="rId14"/>
    <p:sldMasterId id="2147483703" r:id="rId15"/>
    <p:sldMasterId id="2147483705" r:id="rId16"/>
    <p:sldMasterId id="2147483708" r:id="rId17"/>
    <p:sldMasterId id="2147483713" r:id="rId18"/>
    <p:sldMasterId id="2147483715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6.xml"/><Relationship Id="rId6" Type="http://schemas.openxmlformats.org/officeDocument/2006/relationships/slideMaster" Target="slideMasters/slideMaster31.xml"/><Relationship Id="rId7" Type="http://schemas.openxmlformats.org/officeDocument/2006/relationships/slideMaster" Target="slideMasters/slideMaster33.xml"/><Relationship Id="rId8" Type="http://schemas.openxmlformats.org/officeDocument/2006/relationships/slideMaster" Target="slideMasters/slideMaster34.xml"/><Relationship Id="rId9" Type="http://schemas.openxmlformats.org/officeDocument/2006/relationships/slideMaster" Target="slideMasters/slideMaster35.xml"/><Relationship Id="rId10" Type="http://schemas.openxmlformats.org/officeDocument/2006/relationships/slideMaster" Target="slideMasters/slideMaster36.xml"/><Relationship Id="rId11" Type="http://schemas.openxmlformats.org/officeDocument/2006/relationships/slideMaster" Target="slideMasters/slideMaster37.xml"/><Relationship Id="rId12" Type="http://schemas.openxmlformats.org/officeDocument/2006/relationships/slideMaster" Target="slideMasters/slideMaster38.xml"/><Relationship Id="rId13" Type="http://schemas.openxmlformats.org/officeDocument/2006/relationships/slideMaster" Target="slideMasters/slideMaster39.xml"/><Relationship Id="rId14" Type="http://schemas.openxmlformats.org/officeDocument/2006/relationships/slideMaster" Target="slideMasters/slideMaster40.xml"/><Relationship Id="rId15" Type="http://schemas.openxmlformats.org/officeDocument/2006/relationships/slideMaster" Target="slideMasters/slideMaster42.xml"/><Relationship Id="rId16" Type="http://schemas.openxmlformats.org/officeDocument/2006/relationships/slideMaster" Target="slideMasters/slideMaster43.xml"/><Relationship Id="rId17" Type="http://schemas.openxmlformats.org/officeDocument/2006/relationships/slideMaster" Target="slideMasters/slideMaster45.xml"/><Relationship Id="rId18" Type="http://schemas.openxmlformats.org/officeDocument/2006/relationships/slideMaster" Target="slideMasters/slideMaster48.xml"/><Relationship Id="rId19" Type="http://schemas.openxmlformats.org/officeDocument/2006/relationships/slideMaster" Target="slideMasters/slideMaster49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PlaceHolder 4"/>
          <p:cNvSpPr>
            <a:spLocks noGrp="1"/>
          </p:cNvSpPr>
          <p:nvPr>
            <p:ph type="dt" idx="11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PlaceHolder 5"/>
          <p:cNvSpPr>
            <a:spLocks noGrp="1"/>
          </p:cNvSpPr>
          <p:nvPr>
            <p:ph type="ftr" idx="11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PlaceHolder 6"/>
          <p:cNvSpPr>
            <a:spLocks noGrp="1"/>
          </p:cNvSpPr>
          <p:nvPr>
            <p:ph type="sldNum" idx="11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C845C4-3320-4097-86F5-3D1197EAE34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87600" cy="3420720"/>
          </a:xfrm>
          <a:prstGeom prst="rect">
            <a:avLst/>
          </a:prstGeom>
          <a:ln w="0">
            <a:noFill/>
          </a:ln>
        </p:spPr>
      </p:sp>
      <p:sp>
        <p:nvSpPr>
          <p:cNvPr id="12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78120" cy="410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63520" cy="4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E86CE3-62D4-4768-8D8F-2181F15844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952DDA-BF52-40B5-9B66-CE121C98465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-Column Content____________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50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1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2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3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57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8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3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4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207EA159-E2AA-47FA-AD85-A306D6DB659B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66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8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9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2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73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5" name="PlaceHolder 1"/>
          <p:cNvSpPr>
            <a:spLocks noGrp="1"/>
          </p:cNvSpPr>
          <p:nvPr>
            <p:ph type="ftr" idx="5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6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D2129CE8-706B-4566-B807-8094E350F895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83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4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5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6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9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90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2" name="PlaceHolder 1"/>
          <p:cNvSpPr>
            <a:spLocks noGrp="1"/>
          </p:cNvSpPr>
          <p:nvPr>
            <p:ph type="ftr" idx="7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8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772FC84-9EA9-41A9-A824-685DD04DFA4E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9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100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1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2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3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6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107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9" name="PlaceHolder 1"/>
          <p:cNvSpPr>
            <a:spLocks noGrp="1"/>
          </p:cNvSpPr>
          <p:nvPr>
            <p:ph type="ftr" idx="9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10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5044C34-420C-4988-A177-0F7555B2DAA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6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11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8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0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3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12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6" name="PlaceHolder 1"/>
          <p:cNvSpPr>
            <a:spLocks noGrp="1"/>
          </p:cNvSpPr>
          <p:nvPr>
            <p:ph type="ftr" idx="11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12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5219879-D729-473C-9A6D-EC5BF2188014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3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13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5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6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7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0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141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3" name="PlaceHolder 1"/>
          <p:cNvSpPr>
            <a:spLocks noGrp="1"/>
          </p:cNvSpPr>
          <p:nvPr>
            <p:ph type="ftr" idx="13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14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0A602E6-0C49-472D-90F7-4D0E4CD6326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0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151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2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3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4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5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7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158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9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0" name="PlaceHolder 1"/>
          <p:cNvSpPr>
            <a:spLocks noGrp="1"/>
          </p:cNvSpPr>
          <p:nvPr>
            <p:ph type="ftr" idx="15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16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C4DC244-134A-478C-A6C9-B4DD38B78A3F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7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168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9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0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4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175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6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7" name="PlaceHolder 1"/>
          <p:cNvSpPr>
            <a:spLocks noGrp="1"/>
          </p:cNvSpPr>
          <p:nvPr>
            <p:ph type="ftr" idx="17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18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EA121A0-A11F-471D-8079-F8E19439FFC8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4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185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6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7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8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1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192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3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4" name="PlaceHolder 1"/>
          <p:cNvSpPr>
            <a:spLocks noGrp="1"/>
          </p:cNvSpPr>
          <p:nvPr>
            <p:ph type="ftr" idx="19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20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D0312ACD-0FB4-412E-8540-2D0743C3EDA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1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202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3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04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5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6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8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209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0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1" name="PlaceHolder 1"/>
          <p:cNvSpPr>
            <a:spLocks noGrp="1"/>
          </p:cNvSpPr>
          <p:nvPr>
            <p:ph type="ftr" idx="21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ldNum" idx="22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FB0D163-090F-44C4-807A-35A74228536E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8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219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0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21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2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5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226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7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8" name="PlaceHolder 1"/>
          <p:cNvSpPr>
            <a:spLocks noGrp="1"/>
          </p:cNvSpPr>
          <p:nvPr>
            <p:ph type="ftr" idx="23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ldNum" idx="24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08FF9E7-BC39-4D77-9F73-B1CF963414B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5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236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7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38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9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0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2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243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4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45" name="PlaceHolder 1"/>
          <p:cNvSpPr>
            <a:spLocks noGrp="1"/>
          </p:cNvSpPr>
          <p:nvPr>
            <p:ph type="ftr" idx="25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26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33EF479-FEA5-48B0-AA2A-BB4676E82DBF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2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253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4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55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6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9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260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1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62" name="PlaceHolder 1"/>
          <p:cNvSpPr>
            <a:spLocks noGrp="1"/>
          </p:cNvSpPr>
          <p:nvPr>
            <p:ph type="ftr" idx="27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ldNum" idx="28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065EE165-2D8B-4A6B-A7A7-550F683337A7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9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270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1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72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3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4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76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277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8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9" name="PlaceHolder 1"/>
          <p:cNvSpPr>
            <a:spLocks noGrp="1"/>
          </p:cNvSpPr>
          <p:nvPr>
            <p:ph type="ftr" idx="29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sldNum" idx="30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542423C4-EFD3-4A11-B717-3F04DB8FB998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6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28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8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8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0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3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29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6" name="PlaceHolder 1"/>
          <p:cNvSpPr>
            <a:spLocks noGrp="1"/>
          </p:cNvSpPr>
          <p:nvPr>
            <p:ph type="ftr" idx="31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ldNum" idx="32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5C62771E-95C4-48D4-A542-2F6A4FA5751D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03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30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8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05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0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07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308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9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10" name="PlaceHolder 1"/>
          <p:cNvSpPr>
            <a:spLocks noGrp="1"/>
          </p:cNvSpPr>
          <p:nvPr>
            <p:ph type="ftr" idx="33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ldNum" idx="34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607E52E-38F5-4AC6-9AA5-951A419DEDCF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17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318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9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20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1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2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24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325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6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27" name="PlaceHolder 1"/>
          <p:cNvSpPr>
            <a:spLocks noGrp="1"/>
          </p:cNvSpPr>
          <p:nvPr>
            <p:ph type="ftr" idx="35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sldNum" idx="36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023488ED-3B68-4D78-B6A5-E08DCDCA1F39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34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335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6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37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8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9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1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342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3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44" name="PlaceHolder 1"/>
          <p:cNvSpPr>
            <a:spLocks noGrp="1"/>
          </p:cNvSpPr>
          <p:nvPr>
            <p:ph type="ftr" idx="37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ldNum" idx="38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48921CE-CE44-45AE-A5CC-F2DDD7B9CCBC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1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352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3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4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5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6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8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359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0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61" name="PlaceHolder 1"/>
          <p:cNvSpPr>
            <a:spLocks noGrp="1"/>
          </p:cNvSpPr>
          <p:nvPr>
            <p:ph type="ftr" idx="39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sldNum" idx="40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CF97F64-16EA-4AFB-B42F-EAAD9D4F1D81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8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369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0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71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2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3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75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376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7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78" name="PlaceHolder 1"/>
          <p:cNvSpPr>
            <a:spLocks noGrp="1"/>
          </p:cNvSpPr>
          <p:nvPr>
            <p:ph type="ftr" idx="41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sldNum" idx="42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2690A003-446B-418D-B552-7926D70CD147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85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386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7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88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9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0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2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393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4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95" name="PlaceHolder 1"/>
          <p:cNvSpPr>
            <a:spLocks noGrp="1"/>
          </p:cNvSpPr>
          <p:nvPr>
            <p:ph type="ftr" idx="43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sldNum" idx="44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EEE78E6-267F-4000-A6A5-85ED871CFEFF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2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403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4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05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6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7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8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9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410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1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12" name="PlaceHolder 1"/>
          <p:cNvSpPr>
            <a:spLocks noGrp="1"/>
          </p:cNvSpPr>
          <p:nvPr>
            <p:ph type="ftr" idx="45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Num" idx="46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B0201E77-3552-48BC-9F4F-D3CCFC2377A1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19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420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21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22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23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4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5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6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427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8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29" name="PlaceHolder 1"/>
          <p:cNvSpPr>
            <a:spLocks noGrp="1"/>
          </p:cNvSpPr>
          <p:nvPr>
            <p:ph type="ftr" idx="47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sldNum" idx="48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8CD3905-85A5-4E1D-B9C5-B203F86A06FD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36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43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8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3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40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1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3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44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46" name="PlaceHolder 1"/>
          <p:cNvSpPr>
            <a:spLocks noGrp="1"/>
          </p:cNvSpPr>
          <p:nvPr>
            <p:ph type="ftr" idx="49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sldNum" idx="50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E533042-D835-4AC4-92B0-76A089BB628A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53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45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5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56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7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8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60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461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2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677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 type="ftr" idx="51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52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3653ACF-076F-45CF-8F22-D23B63AD1F8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9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70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471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2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73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4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5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6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77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478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9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677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ftr" idx="53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54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6E92FB4-3647-416F-A4EF-FB6F5E8506F5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86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48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88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8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0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1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93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49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677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ftr" idx="55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56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C8317D3-78B6-43A8-8ED9-3689AA452CD0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3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50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5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06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7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8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9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10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511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12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13" name="PlaceHolder 1"/>
          <p:cNvSpPr>
            <a:spLocks noGrp="1"/>
          </p:cNvSpPr>
          <p:nvPr>
            <p:ph type="ftr" idx="57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sldNum" idx="58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6EEE76C-99D0-42D3-82DC-101F9F836EA1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8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20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521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2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23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24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5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6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27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528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9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30" name="PlaceHolder 1"/>
          <p:cNvSpPr>
            <a:spLocks noGrp="1"/>
          </p:cNvSpPr>
          <p:nvPr>
            <p:ph type="ftr" idx="59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sldNum" idx="60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A2FFFB2-08B8-4A9F-8E53-D62907909392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5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6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2920" cy="19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7" name="Group 7"/>
          <p:cNvGrpSpPr/>
          <p:nvPr/>
        </p:nvGrpSpPr>
        <p:grpSpPr>
          <a:xfrm>
            <a:off x="2010240" y="33480"/>
            <a:ext cx="790200" cy="388080"/>
            <a:chOff x="2010240" y="33480"/>
            <a:chExt cx="790200" cy="388080"/>
          </a:xfrm>
        </p:grpSpPr>
        <p:pic>
          <p:nvPicPr>
            <p:cNvPr id="538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37960" cy="237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39" name="TextBox 20"/>
            <p:cNvSpPr/>
            <p:nvPr/>
          </p:nvSpPr>
          <p:spPr>
            <a:xfrm>
              <a:off x="21250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40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4960" cy="118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41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2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3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4360" cy="630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44" name="Group 6"/>
          <p:cNvGrpSpPr/>
          <p:nvPr/>
        </p:nvGrpSpPr>
        <p:grpSpPr>
          <a:xfrm>
            <a:off x="9408240" y="92160"/>
            <a:ext cx="1033920" cy="276480"/>
            <a:chOff x="9408240" y="92160"/>
            <a:chExt cx="1033920" cy="276480"/>
          </a:xfrm>
        </p:grpSpPr>
        <p:pic>
          <p:nvPicPr>
            <p:cNvPr id="545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5200" cy="26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6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26240" cy="2764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47" name="PlaceHolder 1"/>
          <p:cNvSpPr>
            <a:spLocks noGrp="1"/>
          </p:cNvSpPr>
          <p:nvPr>
            <p:ph type="ftr" idx="61"/>
          </p:nvPr>
        </p:nvSpPr>
        <p:spPr>
          <a:xfrm>
            <a:off x="7416720" y="6389640"/>
            <a:ext cx="426024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 type="sldNum" idx="62"/>
          </p:nvPr>
        </p:nvSpPr>
        <p:spPr>
          <a:xfrm>
            <a:off x="11836440" y="6465960"/>
            <a:ext cx="33768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55CE84E1-F6BE-43FA-A3C2-05A68590F77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2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3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2920" cy="19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4" name="Group 7"/>
          <p:cNvGrpSpPr/>
          <p:nvPr/>
        </p:nvGrpSpPr>
        <p:grpSpPr>
          <a:xfrm>
            <a:off x="2010240" y="33480"/>
            <a:ext cx="790200" cy="388080"/>
            <a:chOff x="2010240" y="33480"/>
            <a:chExt cx="790200" cy="388080"/>
          </a:xfrm>
        </p:grpSpPr>
        <p:pic>
          <p:nvPicPr>
            <p:cNvPr id="555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37960" cy="237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6" name="TextBox 20"/>
            <p:cNvSpPr/>
            <p:nvPr/>
          </p:nvSpPr>
          <p:spPr>
            <a:xfrm>
              <a:off x="21250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57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4960" cy="118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8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9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0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4360" cy="630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1" name="Group 6"/>
          <p:cNvGrpSpPr/>
          <p:nvPr/>
        </p:nvGrpSpPr>
        <p:grpSpPr>
          <a:xfrm>
            <a:off x="9408240" y="92160"/>
            <a:ext cx="1033920" cy="276480"/>
            <a:chOff x="9408240" y="92160"/>
            <a:chExt cx="1033920" cy="276480"/>
          </a:xfrm>
        </p:grpSpPr>
        <p:pic>
          <p:nvPicPr>
            <p:cNvPr id="562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5200" cy="26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3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26240" cy="2764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64" name="PlaceHolder 1"/>
          <p:cNvSpPr>
            <a:spLocks noGrp="1"/>
          </p:cNvSpPr>
          <p:nvPr>
            <p:ph type="ftr" idx="63"/>
          </p:nvPr>
        </p:nvSpPr>
        <p:spPr>
          <a:xfrm>
            <a:off x="7416720" y="6389640"/>
            <a:ext cx="426024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sldNum" idx="64"/>
          </p:nvPr>
        </p:nvSpPr>
        <p:spPr>
          <a:xfrm>
            <a:off x="11836440" y="6465960"/>
            <a:ext cx="33768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BED4802-89F7-48DF-B51F-8D8BEC1312D1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776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760" cy="397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991B8780-7954-434B-85CA-0348C29E1A24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34DCB7C1-F2C7-4FBC-AA5E-D5CC52F54057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8828FB58-ABEE-40BD-8518-8BE808EE02EE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6E138753-B204-43AD-8F01-021F2AB80F57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D64C8FCC-0178-410B-8D84-F370A563EF5A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6"/>
          </p:nvPr>
        </p:nvSpPr>
        <p:spPr/>
        <p:txBody>
          <a:bodyPr/>
          <a:p>
            <a:fld id="{776F7FCB-D8B0-4E27-9A46-1E3C7E6E6712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8"/>
          </p:nvPr>
        </p:nvSpPr>
        <p:spPr/>
        <p:txBody>
          <a:bodyPr/>
          <a:p>
            <a:fld id="{7676E9B0-D15F-4B42-9764-9DB64E578487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4920" cy="4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4920" cy="4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7600" cy="203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8" name="Group 7"/>
          <p:cNvGrpSpPr/>
          <p:nvPr/>
        </p:nvGrpSpPr>
        <p:grpSpPr>
          <a:xfrm>
            <a:off x="2010240" y="33480"/>
            <a:ext cx="810000" cy="392760"/>
            <a:chOff x="2010240" y="33480"/>
            <a:chExt cx="810000" cy="392760"/>
          </a:xfrm>
        </p:grpSpPr>
        <p:pic>
          <p:nvPicPr>
            <p:cNvPr id="679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42640" cy="242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80" name="TextBox 20"/>
            <p:cNvSpPr/>
            <p:nvPr/>
          </p:nvSpPr>
          <p:spPr>
            <a:xfrm>
              <a:off x="2144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81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9640" cy="1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82" name="TextBox 13"/>
            <p:cNvSpPr/>
            <p:nvPr/>
          </p:nvSpPr>
          <p:spPr>
            <a:xfrm>
              <a:off x="218484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3" name="TextBox 8"/>
          <p:cNvSpPr/>
          <p:nvPr/>
        </p:nvSpPr>
        <p:spPr>
          <a:xfrm>
            <a:off x="75852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4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9040" cy="63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85" name="Group 6"/>
          <p:cNvGrpSpPr/>
          <p:nvPr/>
        </p:nvGrpSpPr>
        <p:grpSpPr>
          <a:xfrm>
            <a:off x="9408240" y="92160"/>
            <a:ext cx="1038600" cy="281160"/>
            <a:chOff x="9408240" y="92160"/>
            <a:chExt cx="1038600" cy="281160"/>
          </a:xfrm>
        </p:grpSpPr>
        <p:pic>
          <p:nvPicPr>
            <p:cNvPr id="686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9880" cy="26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7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30920" cy="2811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88" name="PlaceHolder 1"/>
          <p:cNvSpPr>
            <a:spLocks noGrp="1"/>
          </p:cNvSpPr>
          <p:nvPr>
            <p:ph type="ftr" idx="79"/>
          </p:nvPr>
        </p:nvSpPr>
        <p:spPr>
          <a:xfrm>
            <a:off x="7416720" y="6389640"/>
            <a:ext cx="426492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PlaceHolder 2"/>
          <p:cNvSpPr>
            <a:spLocks noGrp="1"/>
          </p:cNvSpPr>
          <p:nvPr>
            <p:ph type="sldNum" idx="80"/>
          </p:nvPr>
        </p:nvSpPr>
        <p:spPr>
          <a:xfrm>
            <a:off x="11836440" y="6465960"/>
            <a:ext cx="34236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89DC5FF-359F-41A2-80BA-27B746B0DCDB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5960" cy="11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5960" cy="397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4920" cy="4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3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4920" cy="4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4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7600" cy="203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95" name="Group 7"/>
          <p:cNvGrpSpPr/>
          <p:nvPr/>
        </p:nvGrpSpPr>
        <p:grpSpPr>
          <a:xfrm>
            <a:off x="2010240" y="33480"/>
            <a:ext cx="810000" cy="392760"/>
            <a:chOff x="2010240" y="33480"/>
            <a:chExt cx="810000" cy="392760"/>
          </a:xfrm>
        </p:grpSpPr>
        <p:pic>
          <p:nvPicPr>
            <p:cNvPr id="696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42640" cy="242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97" name="TextBox 20"/>
            <p:cNvSpPr/>
            <p:nvPr/>
          </p:nvSpPr>
          <p:spPr>
            <a:xfrm>
              <a:off x="2144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98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9640" cy="1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99" name="TextBox 13"/>
            <p:cNvSpPr/>
            <p:nvPr/>
          </p:nvSpPr>
          <p:spPr>
            <a:xfrm>
              <a:off x="218484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0" name="TextBox 8"/>
          <p:cNvSpPr/>
          <p:nvPr/>
        </p:nvSpPr>
        <p:spPr>
          <a:xfrm>
            <a:off x="75852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1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9040" cy="63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02" name="Group 6"/>
          <p:cNvGrpSpPr/>
          <p:nvPr/>
        </p:nvGrpSpPr>
        <p:grpSpPr>
          <a:xfrm>
            <a:off x="9408240" y="92160"/>
            <a:ext cx="1038600" cy="281160"/>
            <a:chOff x="9408240" y="92160"/>
            <a:chExt cx="1038600" cy="281160"/>
          </a:xfrm>
        </p:grpSpPr>
        <p:pic>
          <p:nvPicPr>
            <p:cNvPr id="703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9880" cy="26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4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30920" cy="2811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05" name="PlaceHolder 1"/>
          <p:cNvSpPr>
            <a:spLocks noGrp="1"/>
          </p:cNvSpPr>
          <p:nvPr>
            <p:ph type="ftr" idx="81"/>
          </p:nvPr>
        </p:nvSpPr>
        <p:spPr>
          <a:xfrm>
            <a:off x="7416720" y="6389640"/>
            <a:ext cx="426492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PlaceHolder 2"/>
          <p:cNvSpPr>
            <a:spLocks noGrp="1"/>
          </p:cNvSpPr>
          <p:nvPr>
            <p:ph type="sldNum" idx="82"/>
          </p:nvPr>
        </p:nvSpPr>
        <p:spPr>
          <a:xfrm>
            <a:off x="11836440" y="6465960"/>
            <a:ext cx="34236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6E3B3DB-46B8-4DE9-B6BD-78D44AE92021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5960" cy="11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5960" cy="397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4"/>
          </p:nvPr>
        </p:nvSpPr>
        <p:spPr/>
        <p:txBody>
          <a:bodyPr/>
          <a:p>
            <a:fld id="{0E4E19AA-AF4F-4162-BB2A-1ADDE2874C4C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7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8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29" name="Group 7"/>
          <p:cNvGrpSpPr/>
          <p:nvPr/>
        </p:nvGrpSpPr>
        <p:grpSpPr>
          <a:xfrm>
            <a:off x="2010240" y="33480"/>
            <a:ext cx="793440" cy="383760"/>
            <a:chOff x="2010240" y="33480"/>
            <a:chExt cx="793440" cy="383760"/>
          </a:xfrm>
        </p:grpSpPr>
        <p:pic>
          <p:nvPicPr>
            <p:cNvPr id="730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31" name="TextBox 20"/>
            <p:cNvSpPr/>
            <p:nvPr/>
          </p:nvSpPr>
          <p:spPr>
            <a:xfrm>
              <a:off x="212832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32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33" name="TextBox 13"/>
            <p:cNvSpPr/>
            <p:nvPr/>
          </p:nvSpPr>
          <p:spPr>
            <a:xfrm>
              <a:off x="217440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4" name="TextBox 8"/>
          <p:cNvSpPr/>
          <p:nvPr/>
        </p:nvSpPr>
        <p:spPr>
          <a:xfrm>
            <a:off x="7200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5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36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737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38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39" name="PlaceHolder 1"/>
          <p:cNvSpPr>
            <a:spLocks noGrp="1"/>
          </p:cNvSpPr>
          <p:nvPr>
            <p:ph type="ftr" idx="85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 type="sldNum" idx="86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A03FE65-4B68-4CC5-854E-F33903D71237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46" name="Group 7"/>
          <p:cNvGrpSpPr/>
          <p:nvPr/>
        </p:nvGrpSpPr>
        <p:grpSpPr>
          <a:xfrm>
            <a:off x="2010240" y="33480"/>
            <a:ext cx="793440" cy="383760"/>
            <a:chOff x="2010240" y="33480"/>
            <a:chExt cx="793440" cy="383760"/>
          </a:xfrm>
        </p:grpSpPr>
        <p:pic>
          <p:nvPicPr>
            <p:cNvPr id="74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48" name="TextBox 20"/>
            <p:cNvSpPr/>
            <p:nvPr/>
          </p:nvSpPr>
          <p:spPr>
            <a:xfrm>
              <a:off x="212832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4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50" name="TextBox 13"/>
            <p:cNvSpPr/>
            <p:nvPr/>
          </p:nvSpPr>
          <p:spPr>
            <a:xfrm>
              <a:off x="217440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1" name="TextBox 8"/>
          <p:cNvSpPr/>
          <p:nvPr/>
        </p:nvSpPr>
        <p:spPr>
          <a:xfrm>
            <a:off x="7200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53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75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56" name="PlaceHolder 1"/>
          <p:cNvSpPr>
            <a:spLocks noGrp="1"/>
          </p:cNvSpPr>
          <p:nvPr>
            <p:ph type="ftr" idx="87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sldNum" idx="88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016290B-4BCF-424F-8121-DDF509F44C04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63" name="Group 7"/>
          <p:cNvGrpSpPr/>
          <p:nvPr/>
        </p:nvGrpSpPr>
        <p:grpSpPr>
          <a:xfrm>
            <a:off x="2010240" y="33480"/>
            <a:ext cx="793440" cy="383760"/>
            <a:chOff x="2010240" y="33480"/>
            <a:chExt cx="793440" cy="383760"/>
          </a:xfrm>
        </p:grpSpPr>
        <p:pic>
          <p:nvPicPr>
            <p:cNvPr id="76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65" name="TextBox 20"/>
            <p:cNvSpPr/>
            <p:nvPr/>
          </p:nvSpPr>
          <p:spPr>
            <a:xfrm>
              <a:off x="212832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66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67" name="TextBox 13"/>
            <p:cNvSpPr/>
            <p:nvPr/>
          </p:nvSpPr>
          <p:spPr>
            <a:xfrm>
              <a:off x="217440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8" name="TextBox 8"/>
          <p:cNvSpPr/>
          <p:nvPr/>
        </p:nvSpPr>
        <p:spPr>
          <a:xfrm>
            <a:off x="7200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9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0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771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2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73" name="PlaceHolder 1"/>
          <p:cNvSpPr>
            <a:spLocks noGrp="1"/>
          </p:cNvSpPr>
          <p:nvPr>
            <p:ph type="ftr" idx="89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PlaceHolder 2"/>
          <p:cNvSpPr>
            <a:spLocks noGrp="1"/>
          </p:cNvSpPr>
          <p:nvPr>
            <p:ph type="sldNum" idx="90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9FE975A4-C503-4737-B849-8D5164069B52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8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9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80" name="Group 7"/>
          <p:cNvGrpSpPr/>
          <p:nvPr/>
        </p:nvGrpSpPr>
        <p:grpSpPr>
          <a:xfrm>
            <a:off x="2010240" y="33480"/>
            <a:ext cx="793440" cy="383760"/>
            <a:chOff x="2010240" y="33480"/>
            <a:chExt cx="793440" cy="383760"/>
          </a:xfrm>
        </p:grpSpPr>
        <p:pic>
          <p:nvPicPr>
            <p:cNvPr id="781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82" name="TextBox 20"/>
            <p:cNvSpPr/>
            <p:nvPr/>
          </p:nvSpPr>
          <p:spPr>
            <a:xfrm>
              <a:off x="212832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83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84" name="TextBox 13"/>
            <p:cNvSpPr/>
            <p:nvPr/>
          </p:nvSpPr>
          <p:spPr>
            <a:xfrm>
              <a:off x="217440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5" name="TextBox 8"/>
          <p:cNvSpPr/>
          <p:nvPr/>
        </p:nvSpPr>
        <p:spPr>
          <a:xfrm>
            <a:off x="7200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6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87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788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9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90" name="PlaceHolder 1"/>
          <p:cNvSpPr>
            <a:spLocks noGrp="1"/>
          </p:cNvSpPr>
          <p:nvPr>
            <p:ph type="ftr" idx="91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PlaceHolder 2"/>
          <p:cNvSpPr>
            <a:spLocks noGrp="1"/>
          </p:cNvSpPr>
          <p:nvPr>
            <p:ph type="sldNum" idx="92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0498E58A-2014-4F6A-BB64-E29E35AEAFD8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5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6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97" name="Group 7"/>
          <p:cNvGrpSpPr/>
          <p:nvPr/>
        </p:nvGrpSpPr>
        <p:grpSpPr>
          <a:xfrm>
            <a:off x="2010240" y="33480"/>
            <a:ext cx="793440" cy="383760"/>
            <a:chOff x="2010240" y="33480"/>
            <a:chExt cx="793440" cy="383760"/>
          </a:xfrm>
        </p:grpSpPr>
        <p:pic>
          <p:nvPicPr>
            <p:cNvPr id="798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9" name="TextBox 20"/>
            <p:cNvSpPr/>
            <p:nvPr/>
          </p:nvSpPr>
          <p:spPr>
            <a:xfrm>
              <a:off x="212832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00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1" name="TextBox 13"/>
            <p:cNvSpPr/>
            <p:nvPr/>
          </p:nvSpPr>
          <p:spPr>
            <a:xfrm>
              <a:off x="217440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2" name="TextBox 8"/>
          <p:cNvSpPr/>
          <p:nvPr/>
        </p:nvSpPr>
        <p:spPr>
          <a:xfrm>
            <a:off x="7200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3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04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805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6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07" name="PlaceHolder 1"/>
          <p:cNvSpPr>
            <a:spLocks noGrp="1"/>
          </p:cNvSpPr>
          <p:nvPr>
            <p:ph type="ftr" idx="93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PlaceHolder 2"/>
          <p:cNvSpPr>
            <a:spLocks noGrp="1"/>
          </p:cNvSpPr>
          <p:nvPr>
            <p:ph type="sldNum" idx="94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88A579A6-FDC8-4449-AD5F-A92C5EDCC73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6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7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48" name="Group 7"/>
          <p:cNvGrpSpPr/>
          <p:nvPr/>
        </p:nvGrpSpPr>
        <p:grpSpPr>
          <a:xfrm>
            <a:off x="2010240" y="33480"/>
            <a:ext cx="793440" cy="383760"/>
            <a:chOff x="2010240" y="33480"/>
            <a:chExt cx="793440" cy="383760"/>
          </a:xfrm>
        </p:grpSpPr>
        <p:pic>
          <p:nvPicPr>
            <p:cNvPr id="849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50" name="TextBox 20"/>
            <p:cNvSpPr/>
            <p:nvPr/>
          </p:nvSpPr>
          <p:spPr>
            <a:xfrm>
              <a:off x="212832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51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52" name="TextBox 13"/>
            <p:cNvSpPr/>
            <p:nvPr/>
          </p:nvSpPr>
          <p:spPr>
            <a:xfrm>
              <a:off x="217440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3" name="TextBox 8"/>
          <p:cNvSpPr/>
          <p:nvPr/>
        </p:nvSpPr>
        <p:spPr>
          <a:xfrm>
            <a:off x="7200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4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55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856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7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58" name="PlaceHolder 1"/>
          <p:cNvSpPr>
            <a:spLocks noGrp="1"/>
          </p:cNvSpPr>
          <p:nvPr>
            <p:ph type="ftr" idx="99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PlaceHolder 2"/>
          <p:cNvSpPr>
            <a:spLocks noGrp="1"/>
          </p:cNvSpPr>
          <p:nvPr>
            <p:ph type="sldNum" idx="100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14934BCF-CE1B-45E3-B553-3B4E6E7747AF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840" cy="39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-Column Content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6"/>
          </p:nvPr>
        </p:nvSpPr>
        <p:spPr/>
        <p:txBody>
          <a:bodyPr/>
          <a:p>
            <a:fld id="{385B8216-B342-414B-9E6E-3276895B5728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9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0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31" name="Group 7"/>
          <p:cNvGrpSpPr/>
          <p:nvPr/>
        </p:nvGrpSpPr>
        <p:grpSpPr>
          <a:xfrm>
            <a:off x="2010240" y="33480"/>
            <a:ext cx="792000" cy="383760"/>
            <a:chOff x="2010240" y="33480"/>
            <a:chExt cx="792000" cy="383760"/>
          </a:xfrm>
        </p:grpSpPr>
        <p:pic>
          <p:nvPicPr>
            <p:cNvPr id="832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33" name="TextBox 20"/>
            <p:cNvSpPr/>
            <p:nvPr/>
          </p:nvSpPr>
          <p:spPr>
            <a:xfrm>
              <a:off x="2126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34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35" name="TextBox 13"/>
            <p:cNvSpPr/>
            <p:nvPr/>
          </p:nvSpPr>
          <p:spPr>
            <a:xfrm>
              <a:off x="21729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6" name="TextBox 8"/>
          <p:cNvSpPr/>
          <p:nvPr/>
        </p:nvSpPr>
        <p:spPr>
          <a:xfrm>
            <a:off x="7185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7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38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839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40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41" name="PlaceHolder 1"/>
          <p:cNvSpPr>
            <a:spLocks noGrp="1"/>
          </p:cNvSpPr>
          <p:nvPr>
            <p:ph type="ftr" idx="97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sldNum" idx="98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20F87E0-B845-4BEA-8898-C3AC8B21FA31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3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4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65" name="Group 7"/>
          <p:cNvGrpSpPr/>
          <p:nvPr/>
        </p:nvGrpSpPr>
        <p:grpSpPr>
          <a:xfrm>
            <a:off x="2010240" y="33480"/>
            <a:ext cx="792000" cy="383760"/>
            <a:chOff x="2010240" y="33480"/>
            <a:chExt cx="792000" cy="383760"/>
          </a:xfrm>
        </p:grpSpPr>
        <p:pic>
          <p:nvPicPr>
            <p:cNvPr id="866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67" name="TextBox 20"/>
            <p:cNvSpPr/>
            <p:nvPr/>
          </p:nvSpPr>
          <p:spPr>
            <a:xfrm>
              <a:off x="2126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68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69" name="TextBox 13"/>
            <p:cNvSpPr/>
            <p:nvPr/>
          </p:nvSpPr>
          <p:spPr>
            <a:xfrm>
              <a:off x="21729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0" name="TextBox 8"/>
          <p:cNvSpPr/>
          <p:nvPr/>
        </p:nvSpPr>
        <p:spPr>
          <a:xfrm>
            <a:off x="7185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1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72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873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74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75" name="PlaceHolder 1"/>
          <p:cNvSpPr>
            <a:spLocks noGrp="1"/>
          </p:cNvSpPr>
          <p:nvPr>
            <p:ph type="ftr" idx="101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PlaceHolder 2"/>
          <p:cNvSpPr>
            <a:spLocks noGrp="1"/>
          </p:cNvSpPr>
          <p:nvPr>
            <p:ph type="sldNum" idx="102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78AC194-D0F4-435B-8CC1-736498C1CD65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9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0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1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82" name="Group 7"/>
          <p:cNvGrpSpPr/>
          <p:nvPr/>
        </p:nvGrpSpPr>
        <p:grpSpPr>
          <a:xfrm>
            <a:off x="2010240" y="33480"/>
            <a:ext cx="792000" cy="383760"/>
            <a:chOff x="2010240" y="33480"/>
            <a:chExt cx="792000" cy="383760"/>
          </a:xfrm>
        </p:grpSpPr>
        <p:pic>
          <p:nvPicPr>
            <p:cNvPr id="883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4" name="TextBox 20"/>
            <p:cNvSpPr/>
            <p:nvPr/>
          </p:nvSpPr>
          <p:spPr>
            <a:xfrm>
              <a:off x="2126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85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6" name="TextBox 13"/>
            <p:cNvSpPr/>
            <p:nvPr/>
          </p:nvSpPr>
          <p:spPr>
            <a:xfrm>
              <a:off x="21729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7" name="TextBox 8"/>
          <p:cNvSpPr/>
          <p:nvPr/>
        </p:nvSpPr>
        <p:spPr>
          <a:xfrm>
            <a:off x="7185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8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89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890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1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92" name="PlaceHolder 1"/>
          <p:cNvSpPr>
            <a:spLocks noGrp="1"/>
          </p:cNvSpPr>
          <p:nvPr>
            <p:ph type="ftr" idx="103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PlaceHolder 2"/>
          <p:cNvSpPr>
            <a:spLocks noGrp="1"/>
          </p:cNvSpPr>
          <p:nvPr>
            <p:ph type="sldNum" idx="104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9A6D8C4-717C-47F3-AC05-CC2E1652D803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7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8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99" name="Group 7"/>
          <p:cNvGrpSpPr/>
          <p:nvPr/>
        </p:nvGrpSpPr>
        <p:grpSpPr>
          <a:xfrm>
            <a:off x="2010240" y="33480"/>
            <a:ext cx="792000" cy="383760"/>
            <a:chOff x="2010240" y="33480"/>
            <a:chExt cx="792000" cy="383760"/>
          </a:xfrm>
        </p:grpSpPr>
        <p:pic>
          <p:nvPicPr>
            <p:cNvPr id="900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1" name="TextBox 20"/>
            <p:cNvSpPr/>
            <p:nvPr/>
          </p:nvSpPr>
          <p:spPr>
            <a:xfrm>
              <a:off x="2126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02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3" name="TextBox 13"/>
            <p:cNvSpPr/>
            <p:nvPr/>
          </p:nvSpPr>
          <p:spPr>
            <a:xfrm>
              <a:off x="21729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4" name="TextBox 8"/>
          <p:cNvSpPr/>
          <p:nvPr/>
        </p:nvSpPr>
        <p:spPr>
          <a:xfrm>
            <a:off x="7185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5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06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907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8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09" name="PlaceHolder 1"/>
          <p:cNvSpPr>
            <a:spLocks noGrp="1"/>
          </p:cNvSpPr>
          <p:nvPr>
            <p:ph type="ftr" idx="105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PlaceHolder 2"/>
          <p:cNvSpPr>
            <a:spLocks noGrp="1"/>
          </p:cNvSpPr>
          <p:nvPr>
            <p:ph type="sldNum" idx="106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C84C222F-AD8C-43D4-B2BD-B875E88CCBA6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16" name="Group 7"/>
          <p:cNvGrpSpPr/>
          <p:nvPr/>
        </p:nvGrpSpPr>
        <p:grpSpPr>
          <a:xfrm>
            <a:off x="2010240" y="33480"/>
            <a:ext cx="792000" cy="383760"/>
            <a:chOff x="2010240" y="33480"/>
            <a:chExt cx="792000" cy="383760"/>
          </a:xfrm>
        </p:grpSpPr>
        <p:pic>
          <p:nvPicPr>
            <p:cNvPr id="91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8" name="TextBox 20"/>
            <p:cNvSpPr/>
            <p:nvPr/>
          </p:nvSpPr>
          <p:spPr>
            <a:xfrm>
              <a:off x="2126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1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0" name="TextBox 13"/>
            <p:cNvSpPr/>
            <p:nvPr/>
          </p:nvSpPr>
          <p:spPr>
            <a:xfrm>
              <a:off x="21729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1" name="TextBox 8"/>
          <p:cNvSpPr/>
          <p:nvPr/>
        </p:nvSpPr>
        <p:spPr>
          <a:xfrm>
            <a:off x="7185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23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92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26" name="PlaceHolder 1"/>
          <p:cNvSpPr>
            <a:spLocks noGrp="1"/>
          </p:cNvSpPr>
          <p:nvPr>
            <p:ph type="ftr" idx="107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PlaceHolder 2"/>
          <p:cNvSpPr>
            <a:spLocks noGrp="1"/>
          </p:cNvSpPr>
          <p:nvPr>
            <p:ph type="sldNum" idx="108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23F09AF6-ABC4-4737-9861-F795123462AE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_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1600" cy="43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4280" cy="190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33" name="Group 7"/>
          <p:cNvGrpSpPr/>
          <p:nvPr/>
        </p:nvGrpSpPr>
        <p:grpSpPr>
          <a:xfrm>
            <a:off x="2010240" y="33480"/>
            <a:ext cx="792000" cy="383760"/>
            <a:chOff x="2010240" y="33480"/>
            <a:chExt cx="792000" cy="383760"/>
          </a:xfrm>
        </p:grpSpPr>
        <p:pic>
          <p:nvPicPr>
            <p:cNvPr id="93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9320" cy="2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5" name="TextBox 20"/>
            <p:cNvSpPr/>
            <p:nvPr/>
          </p:nvSpPr>
          <p:spPr>
            <a:xfrm>
              <a:off x="2126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36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6320" cy="109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37" name="TextBox 13"/>
            <p:cNvSpPr/>
            <p:nvPr/>
          </p:nvSpPr>
          <p:spPr>
            <a:xfrm>
              <a:off x="21729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8" name="TextBox 8"/>
          <p:cNvSpPr/>
          <p:nvPr/>
        </p:nvSpPr>
        <p:spPr>
          <a:xfrm>
            <a:off x="7185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9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5720" cy="621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40" name="Group 6"/>
          <p:cNvGrpSpPr/>
          <p:nvPr/>
        </p:nvGrpSpPr>
        <p:grpSpPr>
          <a:xfrm>
            <a:off x="9408240" y="92160"/>
            <a:ext cx="1025280" cy="267840"/>
            <a:chOff x="9408240" y="92160"/>
            <a:chExt cx="1025280" cy="267840"/>
          </a:xfrm>
        </p:grpSpPr>
        <p:pic>
          <p:nvPicPr>
            <p:cNvPr id="941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6560" cy="25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42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7600" cy="267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43" name="PlaceHolder 1"/>
          <p:cNvSpPr>
            <a:spLocks noGrp="1"/>
          </p:cNvSpPr>
          <p:nvPr>
            <p:ph type="ftr" idx="109"/>
          </p:nvPr>
        </p:nvSpPr>
        <p:spPr>
          <a:xfrm>
            <a:off x="7416720" y="6389640"/>
            <a:ext cx="425160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PlaceHolder 2"/>
          <p:cNvSpPr>
            <a:spLocks noGrp="1"/>
          </p:cNvSpPr>
          <p:nvPr>
            <p:ph type="sldNum" idx="110"/>
          </p:nvPr>
        </p:nvSpPr>
        <p:spPr>
          <a:xfrm>
            <a:off x="11836440" y="6465960"/>
            <a:ext cx="329040" cy="44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514D6BA7-B9CB-4DEA-8C58-4902A015A8EA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3.wmf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0.png"/><Relationship Id="rId13" Type="http://schemas.openxmlformats.org/officeDocument/2006/relationships/image" Target="../media/image2.png"/><Relationship Id="rId14" Type="http://schemas.openxmlformats.org/officeDocument/2006/relationships/image" Target="../media/image2.png"/><Relationship Id="rId15" Type="http://schemas.openxmlformats.org/officeDocument/2006/relationships/image" Target="../media/image3.wmf"/><Relationship Id="rId16" Type="http://schemas.openxmlformats.org/officeDocument/2006/relationships/image" Target="../media/image6.png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7.png"/><Relationship Id="rId20" Type="http://schemas.openxmlformats.org/officeDocument/2006/relationships/image" Target="../media/image8.png"/><Relationship Id="rId21" Type="http://schemas.openxmlformats.org/officeDocument/2006/relationships/image" Target="../media/image9.svg"/><Relationship Id="rId2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1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34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35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36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37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38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39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40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43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slideLayout" Target="../slideLayouts/slideLayout50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t="-17000" b="-17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5" descr=""/>
          <p:cNvPicPr/>
          <p:nvPr/>
        </p:nvPicPr>
        <p:blipFill>
          <a:blip r:embed="rId3"/>
          <a:stretch/>
        </p:blipFill>
        <p:spPr>
          <a:xfrm>
            <a:off x="0" y="0"/>
            <a:ext cx="12189960" cy="45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2" descr=""/>
          <p:cNvPicPr/>
          <p:nvPr/>
        </p:nvPicPr>
        <p:blipFill>
          <a:blip r:embed="rId4"/>
          <a:stretch/>
        </p:blipFill>
        <p:spPr>
          <a:xfrm>
            <a:off x="0" y="0"/>
            <a:ext cx="12189960" cy="45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Bild 18" descr="g_eth_logo_kurz_neg_Schutzraum.eps"/>
          <p:cNvPicPr/>
          <p:nvPr/>
        </p:nvPicPr>
        <p:blipFill>
          <a:blip r:embed="rId5"/>
          <a:stretch/>
        </p:blipFill>
        <p:spPr>
          <a:xfrm>
            <a:off x="10716840" y="116640"/>
            <a:ext cx="1322640" cy="208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" name="Group 7"/>
          <p:cNvGrpSpPr/>
          <p:nvPr/>
        </p:nvGrpSpPr>
        <p:grpSpPr>
          <a:xfrm>
            <a:off x="2010240" y="33480"/>
            <a:ext cx="837000" cy="397800"/>
            <a:chOff x="2010240" y="33480"/>
            <a:chExt cx="837000" cy="397800"/>
          </a:xfrm>
        </p:grpSpPr>
        <p:pic>
          <p:nvPicPr>
            <p:cNvPr id="4" name="Picture 2" descr="X:\pubs\2013\einfuehrungsvorlesung\twitter-bird-dark-bgs.png"/>
            <p:cNvPicPr/>
            <p:nvPr/>
          </p:nvPicPr>
          <p:blipFill>
            <a:blip r:embed="rId6"/>
            <a:stretch/>
          </p:blipFill>
          <p:spPr>
            <a:xfrm>
              <a:off x="2010240" y="183600"/>
              <a:ext cx="247680" cy="247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" name="TextBox 20"/>
            <p:cNvSpPr/>
            <p:nvPr/>
          </p:nvSpPr>
          <p:spPr>
            <a:xfrm>
              <a:off x="2171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" name="Picture 3" descr=""/>
            <p:cNvPicPr/>
            <p:nvPr/>
          </p:nvPicPr>
          <p:blipFill>
            <a:blip r:embed="rId7"/>
            <a:stretch/>
          </p:blipFill>
          <p:spPr>
            <a:xfrm>
              <a:off x="2041920" y="79200"/>
              <a:ext cx="184680" cy="127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" name="TextBox 13"/>
            <p:cNvSpPr/>
            <p:nvPr/>
          </p:nvSpPr>
          <p:spPr>
            <a:xfrm>
              <a:off x="217692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TextBox 8" hidden="1"/>
          <p:cNvSpPr/>
          <p:nvPr/>
        </p:nvSpPr>
        <p:spPr>
          <a:xfrm>
            <a:off x="7236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9" descr=""/>
          <p:cNvPicPr/>
          <p:nvPr/>
        </p:nvPicPr>
        <p:blipFill>
          <a:blip r:embed="rId8"/>
          <a:stretch/>
        </p:blipFill>
        <p:spPr>
          <a:xfrm>
            <a:off x="144360" y="-99360"/>
            <a:ext cx="1774080" cy="639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9408240" y="92160"/>
            <a:ext cx="1043640" cy="286200"/>
            <a:chOff x="9408240" y="92160"/>
            <a:chExt cx="1043640" cy="286200"/>
          </a:xfrm>
        </p:grpSpPr>
        <p:pic>
          <p:nvPicPr>
            <p:cNvPr id="11" name="Picture 22" descr="A black and white logo&#10;&#10;Description automatically generated"/>
            <p:cNvPicPr/>
            <p:nvPr/>
          </p:nvPicPr>
          <p:blipFill>
            <a:blip r:embed="rId9"/>
            <a:stretch/>
          </p:blipFill>
          <p:spPr>
            <a:xfrm>
              <a:off x="9426960" y="103680"/>
              <a:ext cx="1024920" cy="270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" name="Graphic 10" descr=""/>
            <p:cNvPicPr/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/>
          </p:blipFill>
          <p:spPr>
            <a:xfrm>
              <a:off x="9408240" y="92160"/>
              <a:ext cx="435960" cy="2862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3" name="Picture 7" descr=""/>
          <p:cNvPicPr/>
          <p:nvPr/>
        </p:nvPicPr>
        <p:blipFill>
          <a:blip r:embed="rId12"/>
          <a:stretch/>
        </p:blipFill>
        <p:spPr>
          <a:xfrm>
            <a:off x="227520" y="4545000"/>
            <a:ext cx="6199920" cy="2800080"/>
          </a:xfrm>
          <a:prstGeom prst="rect">
            <a:avLst/>
          </a:prstGeom>
          <a:noFill/>
          <a:ln w="0">
            <a:noFill/>
          </a:ln>
          <a:effectLst>
            <a:outerShdw blurRad="50760" dir="2700000" dist="37674" rotWithShape="0">
              <a:srgbClr val="000000">
                <a:alpha val="40000"/>
              </a:srgbClr>
            </a:outerShdw>
          </a:effectLst>
        </p:spPr>
      </p:pic>
      <p:pic>
        <p:nvPicPr>
          <p:cNvPr id="14" name="Picture 3" descr=""/>
          <p:cNvPicPr/>
          <p:nvPr/>
        </p:nvPicPr>
        <p:blipFill>
          <a:blip r:embed="rId13"/>
          <a:stretch/>
        </p:blipFill>
        <p:spPr>
          <a:xfrm>
            <a:off x="0" y="0"/>
            <a:ext cx="12189960" cy="45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4" descr=""/>
          <p:cNvPicPr/>
          <p:nvPr/>
        </p:nvPicPr>
        <p:blipFill>
          <a:blip r:embed="rId14"/>
          <a:stretch/>
        </p:blipFill>
        <p:spPr>
          <a:xfrm>
            <a:off x="0" y="0"/>
            <a:ext cx="12189960" cy="45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Bild 18" descr="g_eth_logo_kurz_neg_Schutzraum.eps"/>
          <p:cNvPicPr/>
          <p:nvPr/>
        </p:nvPicPr>
        <p:blipFill>
          <a:blip r:embed="rId15"/>
          <a:stretch/>
        </p:blipFill>
        <p:spPr>
          <a:xfrm>
            <a:off x="10716840" y="116640"/>
            <a:ext cx="1322640" cy="2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Box 8"/>
          <p:cNvSpPr/>
          <p:nvPr/>
        </p:nvSpPr>
        <p:spPr>
          <a:xfrm>
            <a:off x="7236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Picture 16" descr=""/>
          <p:cNvPicPr/>
          <p:nvPr/>
        </p:nvPicPr>
        <p:blipFill>
          <a:blip r:embed="rId16"/>
          <a:stretch/>
        </p:blipFill>
        <p:spPr>
          <a:xfrm>
            <a:off x="144360" y="-99360"/>
            <a:ext cx="1774080" cy="639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" name="Group 11"/>
          <p:cNvGrpSpPr/>
          <p:nvPr/>
        </p:nvGrpSpPr>
        <p:grpSpPr>
          <a:xfrm>
            <a:off x="2010240" y="33480"/>
            <a:ext cx="837000" cy="397800"/>
            <a:chOff x="2010240" y="33480"/>
            <a:chExt cx="837000" cy="397800"/>
          </a:xfrm>
        </p:grpSpPr>
        <p:pic>
          <p:nvPicPr>
            <p:cNvPr id="20" name="Picture 2" descr="X:\pubs\2013\einfuehrungsvorlesung\twitter-bird-dark-bgs.png"/>
            <p:cNvPicPr/>
            <p:nvPr/>
          </p:nvPicPr>
          <p:blipFill>
            <a:blip r:embed="rId17"/>
            <a:stretch/>
          </p:blipFill>
          <p:spPr>
            <a:xfrm>
              <a:off x="2010240" y="183600"/>
              <a:ext cx="247680" cy="247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" name="TextBox 17"/>
            <p:cNvSpPr/>
            <p:nvPr/>
          </p:nvSpPr>
          <p:spPr>
            <a:xfrm>
              <a:off x="2171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2" name="Picture 18" descr=""/>
            <p:cNvPicPr/>
            <p:nvPr/>
          </p:nvPicPr>
          <p:blipFill>
            <a:blip r:embed="rId18"/>
            <a:stretch/>
          </p:blipFill>
          <p:spPr>
            <a:xfrm>
              <a:off x="2041920" y="79200"/>
              <a:ext cx="184680" cy="127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" name="TextBox 19"/>
            <p:cNvSpPr/>
            <p:nvPr/>
          </p:nvSpPr>
          <p:spPr>
            <a:xfrm>
              <a:off x="217692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" name="Group 20"/>
          <p:cNvGrpSpPr/>
          <p:nvPr/>
        </p:nvGrpSpPr>
        <p:grpSpPr>
          <a:xfrm>
            <a:off x="9408240" y="92160"/>
            <a:ext cx="1043640" cy="286200"/>
            <a:chOff x="9408240" y="92160"/>
            <a:chExt cx="1043640" cy="286200"/>
          </a:xfrm>
        </p:grpSpPr>
        <p:pic>
          <p:nvPicPr>
            <p:cNvPr id="25" name="Picture 21" descr="A black and white logo&#10;&#10;Description automatically generated"/>
            <p:cNvPicPr/>
            <p:nvPr/>
          </p:nvPicPr>
          <p:blipFill>
            <a:blip r:embed="rId19"/>
            <a:stretch/>
          </p:blipFill>
          <p:spPr>
            <a:xfrm>
              <a:off x="9426960" y="103680"/>
              <a:ext cx="1024920" cy="270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" name="Graphic 22" descr=""/>
            <p:cNvPicPr/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/>
          </p:blipFill>
          <p:spPr>
            <a:xfrm>
              <a:off x="9408240" y="92160"/>
              <a:ext cx="435960" cy="2862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706320"/>
            <a:ext cx="10968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68720" cy="4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1400" cy="187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" name="Group 7"/>
          <p:cNvGrpSpPr/>
          <p:nvPr/>
        </p:nvGrpSpPr>
        <p:grpSpPr>
          <a:xfrm>
            <a:off x="2010240" y="33480"/>
            <a:ext cx="789120" cy="383760"/>
            <a:chOff x="2010240" y="33480"/>
            <a:chExt cx="789120" cy="383760"/>
          </a:xfrm>
        </p:grpSpPr>
        <p:pic>
          <p:nvPicPr>
            <p:cNvPr id="35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26440" cy="226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" name="TextBox 20"/>
            <p:cNvSpPr/>
            <p:nvPr/>
          </p:nvSpPr>
          <p:spPr>
            <a:xfrm>
              <a:off x="21240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7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3440" cy="10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" name="TextBox 13"/>
            <p:cNvSpPr/>
            <p:nvPr/>
          </p:nvSpPr>
          <p:spPr>
            <a:xfrm>
              <a:off x="217008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" name="TextBox 8"/>
          <p:cNvSpPr/>
          <p:nvPr/>
        </p:nvSpPr>
        <p:spPr>
          <a:xfrm>
            <a:off x="71568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2840" cy="61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1" name="Group 6"/>
          <p:cNvGrpSpPr/>
          <p:nvPr/>
        </p:nvGrpSpPr>
        <p:grpSpPr>
          <a:xfrm>
            <a:off x="9408240" y="92160"/>
            <a:ext cx="1022400" cy="264960"/>
            <a:chOff x="9408240" y="92160"/>
            <a:chExt cx="1022400" cy="264960"/>
          </a:xfrm>
        </p:grpSpPr>
        <p:pic>
          <p:nvPicPr>
            <p:cNvPr id="42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3680" cy="248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4720" cy="264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4" name="PlaceHolder 1"/>
          <p:cNvSpPr>
            <a:spLocks noGrp="1"/>
          </p:cNvSpPr>
          <p:nvPr>
            <p:ph type="ftr" idx="1"/>
          </p:nvPr>
        </p:nvSpPr>
        <p:spPr>
          <a:xfrm>
            <a:off x="7416720" y="6389640"/>
            <a:ext cx="424872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"/>
          </p:nvPr>
        </p:nvSpPr>
        <p:spPr>
          <a:xfrm>
            <a:off x="11836440" y="6465960"/>
            <a:ext cx="32616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4C29E7DC-B562-4CEA-B00B-D65594DF6FE8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1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  <p:sldLayoutId id="2147483685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2920" cy="19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71" name="Group 7"/>
          <p:cNvGrpSpPr/>
          <p:nvPr/>
        </p:nvGrpSpPr>
        <p:grpSpPr>
          <a:xfrm>
            <a:off x="2010240" y="33480"/>
            <a:ext cx="790200" cy="388080"/>
            <a:chOff x="2010240" y="33480"/>
            <a:chExt cx="790200" cy="388080"/>
          </a:xfrm>
        </p:grpSpPr>
        <p:pic>
          <p:nvPicPr>
            <p:cNvPr id="572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37960" cy="237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73" name="TextBox 20"/>
            <p:cNvSpPr/>
            <p:nvPr/>
          </p:nvSpPr>
          <p:spPr>
            <a:xfrm>
              <a:off x="21250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74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4960" cy="118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75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6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7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4360" cy="630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78" name="Group 6"/>
          <p:cNvGrpSpPr/>
          <p:nvPr/>
        </p:nvGrpSpPr>
        <p:grpSpPr>
          <a:xfrm>
            <a:off x="9408240" y="92160"/>
            <a:ext cx="1033920" cy="276480"/>
            <a:chOff x="9408240" y="92160"/>
            <a:chExt cx="1033920" cy="276480"/>
          </a:xfrm>
        </p:grpSpPr>
        <p:pic>
          <p:nvPicPr>
            <p:cNvPr id="579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5200" cy="26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80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26240" cy="2764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81" name="PlaceHolder 1"/>
          <p:cNvSpPr>
            <a:spLocks noGrp="1"/>
          </p:cNvSpPr>
          <p:nvPr>
            <p:ph type="ftr" idx="65"/>
          </p:nvPr>
        </p:nvSpPr>
        <p:spPr>
          <a:xfrm>
            <a:off x="7416720" y="6389640"/>
            <a:ext cx="426024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sldNum" idx="66"/>
          </p:nvPr>
        </p:nvSpPr>
        <p:spPr>
          <a:xfrm>
            <a:off x="11836440" y="6465960"/>
            <a:ext cx="33768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940C284-23B1-4A63-9DC8-F822EB4FD1B8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1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2920" cy="19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6" name="Group 7"/>
          <p:cNvGrpSpPr/>
          <p:nvPr/>
        </p:nvGrpSpPr>
        <p:grpSpPr>
          <a:xfrm>
            <a:off x="2010240" y="33480"/>
            <a:ext cx="790200" cy="388080"/>
            <a:chOff x="2010240" y="33480"/>
            <a:chExt cx="790200" cy="388080"/>
          </a:xfrm>
        </p:grpSpPr>
        <p:pic>
          <p:nvPicPr>
            <p:cNvPr id="58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37960" cy="237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88" name="TextBox 20"/>
            <p:cNvSpPr/>
            <p:nvPr/>
          </p:nvSpPr>
          <p:spPr>
            <a:xfrm>
              <a:off x="21250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8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4960" cy="118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90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1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4360" cy="630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93" name="Group 6"/>
          <p:cNvGrpSpPr/>
          <p:nvPr/>
        </p:nvGrpSpPr>
        <p:grpSpPr>
          <a:xfrm>
            <a:off x="9408240" y="92160"/>
            <a:ext cx="1033920" cy="276480"/>
            <a:chOff x="9408240" y="92160"/>
            <a:chExt cx="1033920" cy="276480"/>
          </a:xfrm>
        </p:grpSpPr>
        <p:pic>
          <p:nvPicPr>
            <p:cNvPr id="59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5200" cy="26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26240" cy="2764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96" name="PlaceHolder 1"/>
          <p:cNvSpPr>
            <a:spLocks noGrp="1"/>
          </p:cNvSpPr>
          <p:nvPr>
            <p:ph type="ftr" idx="67"/>
          </p:nvPr>
        </p:nvSpPr>
        <p:spPr>
          <a:xfrm>
            <a:off x="7416720" y="6389640"/>
            <a:ext cx="426024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 type="sldNum" idx="68"/>
          </p:nvPr>
        </p:nvSpPr>
        <p:spPr>
          <a:xfrm>
            <a:off x="11836440" y="6465960"/>
            <a:ext cx="33768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BC43CE6-EAF9-4F3F-8822-22048BECFDF0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1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0240" cy="44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0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2920" cy="19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1" name="Group 7"/>
          <p:cNvGrpSpPr/>
          <p:nvPr/>
        </p:nvGrpSpPr>
        <p:grpSpPr>
          <a:xfrm>
            <a:off x="2010240" y="33480"/>
            <a:ext cx="790200" cy="388080"/>
            <a:chOff x="2010240" y="33480"/>
            <a:chExt cx="790200" cy="388080"/>
          </a:xfrm>
        </p:grpSpPr>
        <p:pic>
          <p:nvPicPr>
            <p:cNvPr id="602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37960" cy="237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03" name="TextBox 20"/>
            <p:cNvSpPr/>
            <p:nvPr/>
          </p:nvSpPr>
          <p:spPr>
            <a:xfrm>
              <a:off x="21250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04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4960" cy="118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05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6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7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4360" cy="630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8" name="Group 6"/>
          <p:cNvGrpSpPr/>
          <p:nvPr/>
        </p:nvGrpSpPr>
        <p:grpSpPr>
          <a:xfrm>
            <a:off x="9408240" y="92160"/>
            <a:ext cx="1033920" cy="276480"/>
            <a:chOff x="9408240" y="92160"/>
            <a:chExt cx="1033920" cy="276480"/>
          </a:xfrm>
        </p:grpSpPr>
        <p:pic>
          <p:nvPicPr>
            <p:cNvPr id="609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5200" cy="26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0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26240" cy="2764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11" name="PlaceHolder 1"/>
          <p:cNvSpPr>
            <a:spLocks noGrp="1"/>
          </p:cNvSpPr>
          <p:nvPr>
            <p:ph type="ftr" idx="69"/>
          </p:nvPr>
        </p:nvSpPr>
        <p:spPr>
          <a:xfrm>
            <a:off x="7416720" y="6389640"/>
            <a:ext cx="426024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 type="sldNum" idx="70"/>
          </p:nvPr>
        </p:nvSpPr>
        <p:spPr>
          <a:xfrm>
            <a:off x="11836440" y="6465960"/>
            <a:ext cx="337680" cy="4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C260FBD6-0126-45D2-A23E-B5844295499A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1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852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4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852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5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21200" cy="207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16" name="Group 7"/>
          <p:cNvGrpSpPr/>
          <p:nvPr/>
        </p:nvGrpSpPr>
        <p:grpSpPr>
          <a:xfrm>
            <a:off x="2010240" y="33480"/>
            <a:ext cx="791280" cy="396360"/>
            <a:chOff x="2010240" y="33480"/>
            <a:chExt cx="791280" cy="396360"/>
          </a:xfrm>
        </p:grpSpPr>
        <p:pic>
          <p:nvPicPr>
            <p:cNvPr id="617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46240" cy="24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18" name="TextBox 20"/>
            <p:cNvSpPr/>
            <p:nvPr/>
          </p:nvSpPr>
          <p:spPr>
            <a:xfrm>
              <a:off x="212616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19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83240" cy="126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20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1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2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72640" cy="638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3" name="Group 6"/>
          <p:cNvGrpSpPr/>
          <p:nvPr/>
        </p:nvGrpSpPr>
        <p:grpSpPr>
          <a:xfrm>
            <a:off x="9408240" y="92160"/>
            <a:ext cx="1042200" cy="284760"/>
            <a:chOff x="9408240" y="92160"/>
            <a:chExt cx="1042200" cy="284760"/>
          </a:xfrm>
        </p:grpSpPr>
        <p:pic>
          <p:nvPicPr>
            <p:cNvPr id="624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23480" cy="26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5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34520" cy="28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26" name="PlaceHolder 1"/>
          <p:cNvSpPr>
            <a:spLocks noGrp="1"/>
          </p:cNvSpPr>
          <p:nvPr>
            <p:ph type="ftr" idx="71"/>
          </p:nvPr>
        </p:nvSpPr>
        <p:spPr>
          <a:xfrm>
            <a:off x="7416720" y="6389640"/>
            <a:ext cx="426852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sldNum" idx="72"/>
          </p:nvPr>
        </p:nvSpPr>
        <p:spPr>
          <a:xfrm>
            <a:off x="11836440" y="6465960"/>
            <a:ext cx="3459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B709B8D-D1B2-4E34-8094-5437C041B498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1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852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852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21200" cy="207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3" name="Group 7"/>
          <p:cNvGrpSpPr/>
          <p:nvPr/>
        </p:nvGrpSpPr>
        <p:grpSpPr>
          <a:xfrm>
            <a:off x="2010240" y="33480"/>
            <a:ext cx="791280" cy="396360"/>
            <a:chOff x="2010240" y="33480"/>
            <a:chExt cx="791280" cy="396360"/>
          </a:xfrm>
        </p:grpSpPr>
        <p:pic>
          <p:nvPicPr>
            <p:cNvPr id="63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46240" cy="24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5" name="TextBox 20"/>
            <p:cNvSpPr/>
            <p:nvPr/>
          </p:nvSpPr>
          <p:spPr>
            <a:xfrm>
              <a:off x="212616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36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83240" cy="126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7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8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9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72640" cy="638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0" name="Group 6"/>
          <p:cNvGrpSpPr/>
          <p:nvPr/>
        </p:nvGrpSpPr>
        <p:grpSpPr>
          <a:xfrm>
            <a:off x="9408240" y="92160"/>
            <a:ext cx="1042200" cy="284760"/>
            <a:chOff x="9408240" y="92160"/>
            <a:chExt cx="1042200" cy="284760"/>
          </a:xfrm>
        </p:grpSpPr>
        <p:pic>
          <p:nvPicPr>
            <p:cNvPr id="641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23480" cy="26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2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34520" cy="28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43" name="PlaceHolder 1"/>
          <p:cNvSpPr>
            <a:spLocks noGrp="1"/>
          </p:cNvSpPr>
          <p:nvPr>
            <p:ph type="ftr" idx="73"/>
          </p:nvPr>
        </p:nvSpPr>
        <p:spPr>
          <a:xfrm>
            <a:off x="7416720" y="6389640"/>
            <a:ext cx="426852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 type="sldNum" idx="74"/>
          </p:nvPr>
        </p:nvSpPr>
        <p:spPr>
          <a:xfrm>
            <a:off x="11836440" y="6465960"/>
            <a:ext cx="3459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B104033-AE75-4F7C-AD30-09090A5FCE96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1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852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6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852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7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21200" cy="207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8" name="Group 7"/>
          <p:cNvGrpSpPr/>
          <p:nvPr/>
        </p:nvGrpSpPr>
        <p:grpSpPr>
          <a:xfrm>
            <a:off x="2010240" y="33480"/>
            <a:ext cx="791280" cy="396360"/>
            <a:chOff x="2010240" y="33480"/>
            <a:chExt cx="791280" cy="396360"/>
          </a:xfrm>
        </p:grpSpPr>
        <p:pic>
          <p:nvPicPr>
            <p:cNvPr id="649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46240" cy="246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50" name="TextBox 20"/>
            <p:cNvSpPr/>
            <p:nvPr/>
          </p:nvSpPr>
          <p:spPr>
            <a:xfrm>
              <a:off x="212616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51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83240" cy="126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52" name="TextBox 13"/>
            <p:cNvSpPr/>
            <p:nvPr/>
          </p:nvSpPr>
          <p:spPr>
            <a:xfrm>
              <a:off x="2171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3" name="TextBox 8"/>
          <p:cNvSpPr/>
          <p:nvPr/>
        </p:nvSpPr>
        <p:spPr>
          <a:xfrm>
            <a:off x="71676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4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72640" cy="638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5" name="Group 6"/>
          <p:cNvGrpSpPr/>
          <p:nvPr/>
        </p:nvGrpSpPr>
        <p:grpSpPr>
          <a:xfrm>
            <a:off x="9408240" y="92160"/>
            <a:ext cx="1042200" cy="284760"/>
            <a:chOff x="9408240" y="92160"/>
            <a:chExt cx="1042200" cy="284760"/>
          </a:xfrm>
        </p:grpSpPr>
        <p:pic>
          <p:nvPicPr>
            <p:cNvPr id="656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23480" cy="26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7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34520" cy="284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58" name="PlaceHolder 1"/>
          <p:cNvSpPr>
            <a:spLocks noGrp="1"/>
          </p:cNvSpPr>
          <p:nvPr>
            <p:ph type="ftr" idx="75"/>
          </p:nvPr>
        </p:nvSpPr>
        <p:spPr>
          <a:xfrm>
            <a:off x="7416720" y="6389640"/>
            <a:ext cx="426852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 type="sldNum" idx="76"/>
          </p:nvPr>
        </p:nvSpPr>
        <p:spPr>
          <a:xfrm>
            <a:off x="11836440" y="6465960"/>
            <a:ext cx="34596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DF604E70-6D87-496C-8579-5132578F5FA0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1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4920" cy="4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1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4920" cy="4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17600" cy="203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63" name="Group 7"/>
          <p:cNvGrpSpPr/>
          <p:nvPr/>
        </p:nvGrpSpPr>
        <p:grpSpPr>
          <a:xfrm>
            <a:off x="2010240" y="33480"/>
            <a:ext cx="810000" cy="392760"/>
            <a:chOff x="2010240" y="33480"/>
            <a:chExt cx="810000" cy="392760"/>
          </a:xfrm>
        </p:grpSpPr>
        <p:pic>
          <p:nvPicPr>
            <p:cNvPr id="664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42640" cy="242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65" name="TextBox 20"/>
            <p:cNvSpPr/>
            <p:nvPr/>
          </p:nvSpPr>
          <p:spPr>
            <a:xfrm>
              <a:off x="214488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66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79640" cy="122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67" name="TextBox 13"/>
            <p:cNvSpPr/>
            <p:nvPr/>
          </p:nvSpPr>
          <p:spPr>
            <a:xfrm>
              <a:off x="218484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8" name="TextBox 8"/>
          <p:cNvSpPr/>
          <p:nvPr/>
        </p:nvSpPr>
        <p:spPr>
          <a:xfrm>
            <a:off x="75852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9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69040" cy="63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0" name="Group 6"/>
          <p:cNvGrpSpPr/>
          <p:nvPr/>
        </p:nvGrpSpPr>
        <p:grpSpPr>
          <a:xfrm>
            <a:off x="9408240" y="92160"/>
            <a:ext cx="1038600" cy="281160"/>
            <a:chOff x="9408240" y="92160"/>
            <a:chExt cx="1038600" cy="281160"/>
          </a:xfrm>
        </p:grpSpPr>
        <p:pic>
          <p:nvPicPr>
            <p:cNvPr id="671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19880" cy="264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2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30920" cy="2811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73" name="PlaceHolder 1"/>
          <p:cNvSpPr>
            <a:spLocks noGrp="1"/>
          </p:cNvSpPr>
          <p:nvPr>
            <p:ph type="ftr" idx="77"/>
          </p:nvPr>
        </p:nvSpPr>
        <p:spPr>
          <a:xfrm>
            <a:off x="7416720" y="6389640"/>
            <a:ext cx="426492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 type="sldNum" idx="78"/>
          </p:nvPr>
        </p:nvSpPr>
        <p:spPr>
          <a:xfrm>
            <a:off x="11836440" y="6465960"/>
            <a:ext cx="34236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D808EBE8-3A35-4708-AC5A-1C1D58B0D634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1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  <p:sldLayoutId id="2147483702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73040" cy="44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0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73040" cy="44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1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05720" cy="191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2" name="Group 7"/>
          <p:cNvGrpSpPr/>
          <p:nvPr/>
        </p:nvGrpSpPr>
        <p:grpSpPr>
          <a:xfrm>
            <a:off x="2010240" y="33480"/>
            <a:ext cx="793440" cy="383760"/>
            <a:chOff x="2010240" y="33480"/>
            <a:chExt cx="793440" cy="383760"/>
          </a:xfrm>
        </p:grpSpPr>
        <p:pic>
          <p:nvPicPr>
            <p:cNvPr id="713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30760" cy="230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14" name="TextBox 20"/>
            <p:cNvSpPr/>
            <p:nvPr/>
          </p:nvSpPr>
          <p:spPr>
            <a:xfrm>
              <a:off x="212832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15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67760" cy="110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16" name="TextBox 13"/>
            <p:cNvSpPr/>
            <p:nvPr/>
          </p:nvSpPr>
          <p:spPr>
            <a:xfrm>
              <a:off x="217440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7" name="TextBox 8"/>
          <p:cNvSpPr/>
          <p:nvPr/>
        </p:nvSpPr>
        <p:spPr>
          <a:xfrm>
            <a:off x="72000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8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57160" cy="622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9" name="Group 6"/>
          <p:cNvGrpSpPr/>
          <p:nvPr/>
        </p:nvGrpSpPr>
        <p:grpSpPr>
          <a:xfrm>
            <a:off x="9408240" y="92160"/>
            <a:ext cx="1026720" cy="269280"/>
            <a:chOff x="9408240" y="92160"/>
            <a:chExt cx="1026720" cy="269280"/>
          </a:xfrm>
        </p:grpSpPr>
        <p:pic>
          <p:nvPicPr>
            <p:cNvPr id="720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08000" cy="253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1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19040" cy="269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2" name="PlaceHolder 1"/>
          <p:cNvSpPr>
            <a:spLocks noGrp="1"/>
          </p:cNvSpPr>
          <p:nvPr>
            <p:ph type="ftr" idx="83"/>
          </p:nvPr>
        </p:nvSpPr>
        <p:spPr>
          <a:xfrm>
            <a:off x="7416720" y="6389640"/>
            <a:ext cx="425304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PlaceHolder 2"/>
          <p:cNvSpPr>
            <a:spLocks noGrp="1"/>
          </p:cNvSpPr>
          <p:nvPr>
            <p:ph type="sldNum" idx="84"/>
          </p:nvPr>
        </p:nvSpPr>
        <p:spPr>
          <a:xfrm>
            <a:off x="11836440" y="6465960"/>
            <a:ext cx="330480" cy="4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8CBB172-6648-4963-8AEB-DE8D9E275E5A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1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2"/>
    <p:sldLayoutId id="2147483707" r:id="rId3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  <p:sldLayoutId id="2147483710" r:id="rId3"/>
    <p:sldLayoutId id="2147483711" r:id="rId4"/>
    <p:sldLayoutId id="2147483712" r:id="rId5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Picture 25" descr=""/>
          <p:cNvPicPr/>
          <p:nvPr/>
        </p:nvPicPr>
        <p:blipFill>
          <a:blip r:embed="rId2"/>
          <a:stretch/>
        </p:blipFill>
        <p:spPr>
          <a:xfrm>
            <a:off x="0" y="0"/>
            <a:ext cx="1218924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2" name="Picture 12" descr=""/>
          <p:cNvPicPr/>
          <p:nvPr/>
        </p:nvPicPr>
        <p:blipFill>
          <a:blip r:embed="rId3"/>
          <a:stretch/>
        </p:blipFill>
        <p:spPr>
          <a:xfrm>
            <a:off x="0" y="0"/>
            <a:ext cx="1218924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3" name="Bild 18" descr="g_eth_logo_kurz_neg_Schutzraum.eps"/>
          <p:cNvPicPr/>
          <p:nvPr/>
        </p:nvPicPr>
        <p:blipFill>
          <a:blip r:embed="rId4"/>
          <a:stretch/>
        </p:blipFill>
        <p:spPr>
          <a:xfrm>
            <a:off x="10716840" y="116640"/>
            <a:ext cx="1321920" cy="208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14" name="Group 7"/>
          <p:cNvGrpSpPr/>
          <p:nvPr/>
        </p:nvGrpSpPr>
        <p:grpSpPr>
          <a:xfrm>
            <a:off x="2010240" y="33480"/>
            <a:ext cx="814320" cy="397080"/>
            <a:chOff x="2010240" y="33480"/>
            <a:chExt cx="814320" cy="397080"/>
          </a:xfrm>
        </p:grpSpPr>
        <p:pic>
          <p:nvPicPr>
            <p:cNvPr id="815" name="Picture 2" descr="X:\pubs\2013\einfuehrungsvorlesung\twitter-bird-dark-bgs.png"/>
            <p:cNvPicPr/>
            <p:nvPr/>
          </p:nvPicPr>
          <p:blipFill>
            <a:blip r:embed="rId5"/>
            <a:stretch/>
          </p:blipFill>
          <p:spPr>
            <a:xfrm>
              <a:off x="2010240" y="183600"/>
              <a:ext cx="246960" cy="246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16" name="TextBox 20"/>
            <p:cNvSpPr/>
            <p:nvPr/>
          </p:nvSpPr>
          <p:spPr>
            <a:xfrm>
              <a:off x="2149200" y="190080"/>
              <a:ext cx="67536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@spcl_eth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17" name="Picture 3" descr=""/>
            <p:cNvPicPr/>
            <p:nvPr/>
          </p:nvPicPr>
          <p:blipFill>
            <a:blip r:embed="rId6"/>
            <a:stretch/>
          </p:blipFill>
          <p:spPr>
            <a:xfrm>
              <a:off x="2041920" y="79200"/>
              <a:ext cx="183960" cy="12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18" name="TextBox 13"/>
            <p:cNvSpPr/>
            <p:nvPr/>
          </p:nvSpPr>
          <p:spPr>
            <a:xfrm>
              <a:off x="2189160" y="33480"/>
              <a:ext cx="463320" cy="22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 anchorCtr="1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i="1" lang="en-US" sz="900" strike="noStrike" u="none">
                  <a:solidFill>
                    <a:schemeClr val="lt1">
                      <a:lumMod val="95000"/>
                    </a:schemeClr>
                  </a:solidFill>
                  <a:effectLst/>
                  <a:uFillTx/>
                  <a:latin typeface="Calibri"/>
                  <a:ea typeface="DejaVu Sans"/>
                </a:rPr>
                <a:t>@spcl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9" name="TextBox 8"/>
          <p:cNvSpPr/>
          <p:nvPr/>
        </p:nvSpPr>
        <p:spPr>
          <a:xfrm>
            <a:off x="762840" y="291600"/>
            <a:ext cx="729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1" i="1" lang="en-US" sz="900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bri"/>
                <a:ea typeface="DejaVu Sans"/>
              </a:rPr>
              <a:t>spcl.ethz.ch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0" name="Picture 9" descr=""/>
          <p:cNvPicPr/>
          <p:nvPr/>
        </p:nvPicPr>
        <p:blipFill>
          <a:blip r:embed="rId7"/>
          <a:stretch/>
        </p:blipFill>
        <p:spPr>
          <a:xfrm>
            <a:off x="144360" y="-99360"/>
            <a:ext cx="1773360" cy="639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1" name="Group 6"/>
          <p:cNvGrpSpPr/>
          <p:nvPr/>
        </p:nvGrpSpPr>
        <p:grpSpPr>
          <a:xfrm>
            <a:off x="9408240" y="92160"/>
            <a:ext cx="1042920" cy="285480"/>
            <a:chOff x="9408240" y="92160"/>
            <a:chExt cx="1042920" cy="285480"/>
          </a:xfrm>
        </p:grpSpPr>
        <p:pic>
          <p:nvPicPr>
            <p:cNvPr id="822" name="Picture 22" descr="A black and white logo&#10;&#10;Description automatically generated"/>
            <p:cNvPicPr/>
            <p:nvPr/>
          </p:nvPicPr>
          <p:blipFill>
            <a:blip r:embed="rId8"/>
            <a:stretch/>
          </p:blipFill>
          <p:spPr>
            <a:xfrm>
              <a:off x="9426960" y="103680"/>
              <a:ext cx="1024200" cy="269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23" name="Graphic 10" descr="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9408240" y="92160"/>
              <a:ext cx="435240" cy="2854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24" name="PlaceHolder 1"/>
          <p:cNvSpPr>
            <a:spLocks noGrp="1"/>
          </p:cNvSpPr>
          <p:nvPr>
            <p:ph type="ftr" idx="95"/>
          </p:nvPr>
        </p:nvSpPr>
        <p:spPr>
          <a:xfrm>
            <a:off x="7416720" y="6389640"/>
            <a:ext cx="4269240" cy="45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&lt;footer&gt;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PlaceHolder 2"/>
          <p:cNvSpPr>
            <a:spLocks noGrp="1"/>
          </p:cNvSpPr>
          <p:nvPr>
            <p:ph type="sldNum" idx="96"/>
          </p:nvPr>
        </p:nvSpPr>
        <p:spPr>
          <a:xfrm>
            <a:off x="11836440" y="6465960"/>
            <a:ext cx="346680" cy="45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E956C8A7-4BC4-4400-85B7-C079D578D59A}" type="slidenum">
              <a:rPr b="0" lang="de-DE" sz="105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1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image" Target="../media/image11.jpe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1.jpe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1.jpeg"/><Relationship Id="rId11" Type="http://schemas.openxmlformats.org/officeDocument/2006/relationships/image" Target="../media/image11.jpeg"/><Relationship Id="rId12" Type="http://schemas.openxmlformats.org/officeDocument/2006/relationships/image" Target="../media/image15.png"/><Relationship Id="rId13" Type="http://schemas.openxmlformats.org/officeDocument/2006/relationships/image" Target="../media/image16.svg"/><Relationship Id="rId14" Type="http://schemas.openxmlformats.org/officeDocument/2006/relationships/image" Target="../media/image17.png"/><Relationship Id="rId15" Type="http://schemas.openxmlformats.org/officeDocument/2006/relationships/slideLayout" Target="../slideLayouts/slideLayout4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image" Target="../media/image11.jpe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1.jpe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1.jpeg"/><Relationship Id="rId11" Type="http://schemas.openxmlformats.org/officeDocument/2006/relationships/image" Target="../media/image11.jpeg"/><Relationship Id="rId12" Type="http://schemas.openxmlformats.org/officeDocument/2006/relationships/image" Target="../media/image15.png"/><Relationship Id="rId13" Type="http://schemas.openxmlformats.org/officeDocument/2006/relationships/image" Target="../media/image16.svg"/><Relationship Id="rId14" Type="http://schemas.openxmlformats.org/officeDocument/2006/relationships/image" Target="../media/image17.png"/><Relationship Id="rId15" Type="http://schemas.openxmlformats.org/officeDocument/2006/relationships/slideLayout" Target="../slideLayouts/slideLayout4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image" Target="../media/image11.jpe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1.jpe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1.jpeg"/><Relationship Id="rId11" Type="http://schemas.openxmlformats.org/officeDocument/2006/relationships/image" Target="../media/image11.jpeg"/><Relationship Id="rId12" Type="http://schemas.openxmlformats.org/officeDocument/2006/relationships/image" Target="../media/image15.png"/><Relationship Id="rId13" Type="http://schemas.openxmlformats.org/officeDocument/2006/relationships/image" Target="../media/image16.svg"/><Relationship Id="rId14" Type="http://schemas.openxmlformats.org/officeDocument/2006/relationships/image" Target="../media/image17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slideLayout" Target="../slideLayouts/slideLayout4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4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hyperlink" Target="https://www.dwd.de/DE/leistungen/nwv_icon_tutorial/nwv_icon_tutorial.html" TargetMode="Externa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4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5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5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13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slideLayout" Target="../slideLayouts/slideLayout5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4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4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4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5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3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3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3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3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8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Rectangle 6"/>
          <p:cNvSpPr/>
          <p:nvPr/>
        </p:nvSpPr>
        <p:spPr>
          <a:xfrm>
            <a:off x="-60840" y="503280"/>
            <a:ext cx="12244320" cy="1513440"/>
          </a:xfrm>
          <a:prstGeom prst="rect">
            <a:avLst/>
          </a:prstGeom>
          <a:solidFill>
            <a:srgbClr val="ffffff">
              <a:alpha val="40000"/>
            </a:srgbClr>
          </a:solidFill>
          <a:ln w="25560">
            <a:noFill/>
          </a:ln>
          <a:effectLst>
            <a:softEdge rad="127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954" name="PlaceHolder 1"/>
          <p:cNvSpPr>
            <a:spLocks noGrp="1"/>
          </p:cNvSpPr>
          <p:nvPr>
            <p:ph type="subTitle"/>
          </p:nvPr>
        </p:nvSpPr>
        <p:spPr>
          <a:xfrm>
            <a:off x="77760" y="502200"/>
            <a:ext cx="11116800" cy="457560"/>
          </a:xfrm>
          <a:prstGeom prst="rect">
            <a:avLst/>
          </a:prstGeom>
          <a:noFill/>
          <a:ln w="0">
            <a:noFill/>
          </a:ln>
        </p:spPr>
        <p:txBody>
          <a:bodyPr lIns="144000" rIns="144000" tIns="108000" bIns="0" anchor="t">
            <a:norm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800" strike="noStrike" u="none" cap="small">
                <a:solidFill>
                  <a:schemeClr val="dk1"/>
                </a:solidFill>
                <a:effectLst/>
                <a:uFillTx/>
                <a:latin typeface="Calibri"/>
              </a:rPr>
              <a:t>Yakup Koray Budanaz, Alexandru Calotoiu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"/>
          <p:cNvSpPr/>
          <p:nvPr/>
        </p:nvSpPr>
        <p:spPr>
          <a:xfrm>
            <a:off x="77760" y="965520"/>
            <a:ext cx="11803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SoftHier End-of-the-Year-Two Meeting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56"/>
          <p:cNvSpPr/>
          <p:nvPr/>
        </p:nvSpPr>
        <p:spPr>
          <a:xfrm>
            <a:off x="119160" y="457200"/>
            <a:ext cx="11768040" cy="528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Absolute Performance For Weather Stencils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7" name="" descr=""/>
          <p:cNvPicPr/>
          <p:nvPr/>
        </p:nvPicPr>
        <p:blipFill>
          <a:blip r:embed="rId1"/>
          <a:stretch/>
        </p:blipFill>
        <p:spPr>
          <a:xfrm>
            <a:off x="875520" y="18763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8" name="Google Shape;105;p 3" descr=""/>
          <p:cNvPicPr/>
          <p:nvPr/>
        </p:nvPicPr>
        <p:blipFill>
          <a:blip r:embed="rId2"/>
          <a:stretch/>
        </p:blipFill>
        <p:spPr>
          <a:xfrm>
            <a:off x="461520" y="1648080"/>
            <a:ext cx="568080" cy="5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9" name="" descr=""/>
          <p:cNvPicPr/>
          <p:nvPr/>
        </p:nvPicPr>
        <p:blipFill>
          <a:blip r:embed="rId3"/>
          <a:stretch/>
        </p:blipFill>
        <p:spPr>
          <a:xfrm>
            <a:off x="2596320" y="411444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0" name="Google Shape;105;p 4" descr=""/>
          <p:cNvPicPr/>
          <p:nvPr/>
        </p:nvPicPr>
        <p:blipFill>
          <a:blip r:embed="rId4"/>
          <a:stretch/>
        </p:blipFill>
        <p:spPr>
          <a:xfrm>
            <a:off x="2178000" y="3886200"/>
            <a:ext cx="568080" cy="5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1" name="" descr=""/>
          <p:cNvPicPr/>
          <p:nvPr/>
        </p:nvPicPr>
        <p:blipFill>
          <a:blip r:embed="rId5"/>
          <a:stretch/>
        </p:blipFill>
        <p:spPr>
          <a:xfrm>
            <a:off x="4110120" y="1792080"/>
            <a:ext cx="857160" cy="11386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962" name="Google Shape;107;p 3" descr=""/>
          <p:cNvPicPr/>
          <p:nvPr/>
        </p:nvPicPr>
        <p:blipFill>
          <a:blip r:embed="rId6"/>
          <a:stretch/>
        </p:blipFill>
        <p:spPr>
          <a:xfrm>
            <a:off x="3812400" y="1563120"/>
            <a:ext cx="56808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3" name=""/>
          <p:cNvSpPr/>
          <p:nvPr/>
        </p:nvSpPr>
        <p:spPr>
          <a:xfrm>
            <a:off x="461160" y="3019320"/>
            <a:ext cx="1367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Original Fortran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1953000" y="5029200"/>
            <a:ext cx="22824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Preprocessed Fortran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(modules and functions inlined, macros expanded)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5" name="" descr=""/>
          <p:cNvPicPr/>
          <p:nvPr/>
        </p:nvPicPr>
        <p:blipFill>
          <a:blip r:embed="rId7"/>
          <a:stretch/>
        </p:blipFill>
        <p:spPr>
          <a:xfrm>
            <a:off x="1104120" y="16477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6" name=""/>
          <p:cNvSpPr/>
          <p:nvPr/>
        </p:nvSpPr>
        <p:spPr>
          <a:xfrm>
            <a:off x="3780000" y="31633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Unoptimized DaCe SDFGs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7" name="" descr=""/>
          <p:cNvPicPr/>
          <p:nvPr/>
        </p:nvPicPr>
        <p:blipFill>
          <a:blip r:embed="rId8"/>
          <a:stretch/>
        </p:blipFill>
        <p:spPr>
          <a:xfrm>
            <a:off x="6495840" y="4162680"/>
            <a:ext cx="857160" cy="11386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968" name="Google Shape;107;p 4" descr=""/>
          <p:cNvPicPr/>
          <p:nvPr/>
        </p:nvPicPr>
        <p:blipFill>
          <a:blip r:embed="rId9"/>
          <a:stretch/>
        </p:blipFill>
        <p:spPr>
          <a:xfrm>
            <a:off x="6198120" y="3933720"/>
            <a:ext cx="56808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9" name=""/>
          <p:cNvSpPr/>
          <p:nvPr/>
        </p:nvSpPr>
        <p:spPr>
          <a:xfrm>
            <a:off x="6237360" y="55339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Optimized SDFG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/>
          <p:nvPr/>
        </p:nvSpPr>
        <p:spPr>
          <a:xfrm>
            <a:off x="7953480" y="4847760"/>
            <a:ext cx="914400" cy="3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1" name=""/>
          <p:cNvSpPr/>
          <p:nvPr/>
        </p:nvSpPr>
        <p:spPr>
          <a:xfrm flipV="1">
            <a:off x="3033000" y="307980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2" name=""/>
          <p:cNvSpPr/>
          <p:nvPr/>
        </p:nvSpPr>
        <p:spPr>
          <a:xfrm>
            <a:off x="1492200" y="301932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3" name=""/>
          <p:cNvSpPr/>
          <p:nvPr/>
        </p:nvSpPr>
        <p:spPr>
          <a:xfrm>
            <a:off x="5450400" y="312804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5715000" y="1600200"/>
            <a:ext cx="2743200" cy="230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 you directly apply scheduling transformations on a new accelerator?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Just run -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.offload()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.vectorize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5" name="" descr=""/>
          <p:cNvPicPr/>
          <p:nvPr/>
        </p:nvPicPr>
        <p:blipFill>
          <a:blip r:embed="rId10"/>
          <a:stretch/>
        </p:blipFill>
        <p:spPr>
          <a:xfrm>
            <a:off x="9631440" y="443736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6" name="" descr=""/>
          <p:cNvPicPr/>
          <p:nvPr/>
        </p:nvPicPr>
        <p:blipFill>
          <a:blip r:embed="rId11"/>
          <a:stretch/>
        </p:blipFill>
        <p:spPr>
          <a:xfrm>
            <a:off x="10770480" y="44521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7" name="" descr="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0460520" y="4161600"/>
            <a:ext cx="457200" cy="51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8" name=""/>
          <p:cNvSpPr/>
          <p:nvPr/>
        </p:nvSpPr>
        <p:spPr>
          <a:xfrm>
            <a:off x="9709200" y="56059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Generated Source 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9" name="" descr=""/>
          <p:cNvPicPr/>
          <p:nvPr/>
        </p:nvPicPr>
        <p:blipFill>
          <a:blip r:embed="rId14"/>
          <a:stretch/>
        </p:blipFill>
        <p:spPr>
          <a:xfrm>
            <a:off x="9205560" y="4161600"/>
            <a:ext cx="693360" cy="5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C839CC79-7A63-4485-BB5D-57A64F658467}" type="slidenum">
              <a:t>2</a:t>
            </a:fld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22"/>
          <p:cNvSpPr/>
          <p:nvPr/>
        </p:nvSpPr>
        <p:spPr>
          <a:xfrm>
            <a:off x="119160" y="457200"/>
            <a:ext cx="11768040" cy="528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Absolute Performance For Weather Stencils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1" name="" descr=""/>
          <p:cNvPicPr/>
          <p:nvPr/>
        </p:nvPicPr>
        <p:blipFill>
          <a:blip r:embed="rId1"/>
          <a:stretch/>
        </p:blipFill>
        <p:spPr>
          <a:xfrm>
            <a:off x="875520" y="18763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2" name="Google Shape;105;p 5" descr=""/>
          <p:cNvPicPr/>
          <p:nvPr/>
        </p:nvPicPr>
        <p:blipFill>
          <a:blip r:embed="rId2"/>
          <a:stretch/>
        </p:blipFill>
        <p:spPr>
          <a:xfrm>
            <a:off x="461520" y="1648080"/>
            <a:ext cx="568080" cy="5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3" name="" descr=""/>
          <p:cNvPicPr/>
          <p:nvPr/>
        </p:nvPicPr>
        <p:blipFill>
          <a:blip r:embed="rId3"/>
          <a:stretch/>
        </p:blipFill>
        <p:spPr>
          <a:xfrm>
            <a:off x="2596320" y="411444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4" name="Google Shape;105;p 6" descr=""/>
          <p:cNvPicPr/>
          <p:nvPr/>
        </p:nvPicPr>
        <p:blipFill>
          <a:blip r:embed="rId4"/>
          <a:stretch/>
        </p:blipFill>
        <p:spPr>
          <a:xfrm>
            <a:off x="2178000" y="3886200"/>
            <a:ext cx="568080" cy="5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5" name="" descr=""/>
          <p:cNvPicPr/>
          <p:nvPr/>
        </p:nvPicPr>
        <p:blipFill>
          <a:blip r:embed="rId5"/>
          <a:stretch/>
        </p:blipFill>
        <p:spPr>
          <a:xfrm>
            <a:off x="4110120" y="1792080"/>
            <a:ext cx="857160" cy="11386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986" name="Google Shape;107;p 5" descr=""/>
          <p:cNvPicPr/>
          <p:nvPr/>
        </p:nvPicPr>
        <p:blipFill>
          <a:blip r:embed="rId6"/>
          <a:stretch/>
        </p:blipFill>
        <p:spPr>
          <a:xfrm>
            <a:off x="3812400" y="1563120"/>
            <a:ext cx="56808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7" name=""/>
          <p:cNvSpPr/>
          <p:nvPr/>
        </p:nvSpPr>
        <p:spPr>
          <a:xfrm>
            <a:off x="461160" y="3019320"/>
            <a:ext cx="1367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Original Fortran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1953000" y="5029200"/>
            <a:ext cx="22824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Preprocessed Fortran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(modules and functions inlined, macros expanded)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9" name="" descr=""/>
          <p:cNvPicPr/>
          <p:nvPr/>
        </p:nvPicPr>
        <p:blipFill>
          <a:blip r:embed="rId7"/>
          <a:stretch/>
        </p:blipFill>
        <p:spPr>
          <a:xfrm>
            <a:off x="1104120" y="16477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0" name=""/>
          <p:cNvSpPr/>
          <p:nvPr/>
        </p:nvSpPr>
        <p:spPr>
          <a:xfrm>
            <a:off x="3780000" y="31633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Unoptimized DaCe SDFGs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1" name="" descr=""/>
          <p:cNvPicPr/>
          <p:nvPr/>
        </p:nvPicPr>
        <p:blipFill>
          <a:blip r:embed="rId8"/>
          <a:stretch/>
        </p:blipFill>
        <p:spPr>
          <a:xfrm>
            <a:off x="6495840" y="4162680"/>
            <a:ext cx="857160" cy="11386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992" name="Google Shape;107;p 6" descr=""/>
          <p:cNvPicPr/>
          <p:nvPr/>
        </p:nvPicPr>
        <p:blipFill>
          <a:blip r:embed="rId9"/>
          <a:stretch/>
        </p:blipFill>
        <p:spPr>
          <a:xfrm>
            <a:off x="6198120" y="3933720"/>
            <a:ext cx="56808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3" name=""/>
          <p:cNvSpPr/>
          <p:nvPr/>
        </p:nvSpPr>
        <p:spPr>
          <a:xfrm>
            <a:off x="6237360" y="55339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Optimized SDFG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>
            <a:off x="7953480" y="4847760"/>
            <a:ext cx="914400" cy="3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5" name=""/>
          <p:cNvSpPr/>
          <p:nvPr/>
        </p:nvSpPr>
        <p:spPr>
          <a:xfrm flipV="1">
            <a:off x="3033000" y="307980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6" name=""/>
          <p:cNvSpPr/>
          <p:nvPr/>
        </p:nvSpPr>
        <p:spPr>
          <a:xfrm>
            <a:off x="1492200" y="301932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7" name=""/>
          <p:cNvSpPr/>
          <p:nvPr/>
        </p:nvSpPr>
        <p:spPr>
          <a:xfrm>
            <a:off x="5450400" y="312804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5715000" y="1600200"/>
            <a:ext cx="2743200" cy="230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 you directly apply scheduling transformations on a new accelerator?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Just run -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.offload()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.vectorize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"/>
          <p:cNvSpPr/>
          <p:nvPr/>
        </p:nvSpPr>
        <p:spPr>
          <a:xfrm>
            <a:off x="5715000" y="1371600"/>
            <a:ext cx="2743200" cy="1190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No.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0" name="" descr=""/>
          <p:cNvPicPr/>
          <p:nvPr/>
        </p:nvPicPr>
        <p:blipFill>
          <a:blip r:embed="rId10"/>
          <a:stretch/>
        </p:blipFill>
        <p:spPr>
          <a:xfrm>
            <a:off x="9631440" y="443736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1" name="" descr=""/>
          <p:cNvPicPr/>
          <p:nvPr/>
        </p:nvPicPr>
        <p:blipFill>
          <a:blip r:embed="rId11"/>
          <a:stretch/>
        </p:blipFill>
        <p:spPr>
          <a:xfrm>
            <a:off x="10770480" y="44521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2" name="" descr="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0460520" y="4161600"/>
            <a:ext cx="457200" cy="51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3" name=""/>
          <p:cNvSpPr/>
          <p:nvPr/>
        </p:nvSpPr>
        <p:spPr>
          <a:xfrm>
            <a:off x="9709200" y="56059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Generated Source 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4" name="" descr=""/>
          <p:cNvPicPr/>
          <p:nvPr/>
        </p:nvPicPr>
        <p:blipFill>
          <a:blip r:embed="rId14"/>
          <a:stretch/>
        </p:blipFill>
        <p:spPr>
          <a:xfrm>
            <a:off x="9205560" y="4161600"/>
            <a:ext cx="693360" cy="5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27DF785D-6015-4381-9578-0BE63153CE6A}" type="slidenum">
              <a:t>3</a:t>
            </a:fld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23"/>
          <p:cNvSpPr/>
          <p:nvPr/>
        </p:nvSpPr>
        <p:spPr>
          <a:xfrm>
            <a:off x="119160" y="457200"/>
            <a:ext cx="11768040" cy="528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Absolute Performance For Weather Stencils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6" name="" descr=""/>
          <p:cNvPicPr/>
          <p:nvPr/>
        </p:nvPicPr>
        <p:blipFill>
          <a:blip r:embed="rId1"/>
          <a:stretch/>
        </p:blipFill>
        <p:spPr>
          <a:xfrm>
            <a:off x="875520" y="18763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7" name="Google Shape;105;p 7" descr=""/>
          <p:cNvPicPr/>
          <p:nvPr/>
        </p:nvPicPr>
        <p:blipFill>
          <a:blip r:embed="rId2"/>
          <a:stretch/>
        </p:blipFill>
        <p:spPr>
          <a:xfrm>
            <a:off x="461520" y="1648080"/>
            <a:ext cx="568080" cy="5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8" name="" descr=""/>
          <p:cNvPicPr/>
          <p:nvPr/>
        </p:nvPicPr>
        <p:blipFill>
          <a:blip r:embed="rId3"/>
          <a:stretch/>
        </p:blipFill>
        <p:spPr>
          <a:xfrm>
            <a:off x="2596320" y="411444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9" name="Google Shape;105;p 8" descr=""/>
          <p:cNvPicPr/>
          <p:nvPr/>
        </p:nvPicPr>
        <p:blipFill>
          <a:blip r:embed="rId4"/>
          <a:stretch/>
        </p:blipFill>
        <p:spPr>
          <a:xfrm>
            <a:off x="2178000" y="3886200"/>
            <a:ext cx="568080" cy="5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0" name="" descr=""/>
          <p:cNvPicPr/>
          <p:nvPr/>
        </p:nvPicPr>
        <p:blipFill>
          <a:blip r:embed="rId5"/>
          <a:stretch/>
        </p:blipFill>
        <p:spPr>
          <a:xfrm>
            <a:off x="4110120" y="1792080"/>
            <a:ext cx="857160" cy="11386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11" name="Google Shape;107;p 7" descr=""/>
          <p:cNvPicPr/>
          <p:nvPr/>
        </p:nvPicPr>
        <p:blipFill>
          <a:blip r:embed="rId6"/>
          <a:stretch/>
        </p:blipFill>
        <p:spPr>
          <a:xfrm>
            <a:off x="3812400" y="1563120"/>
            <a:ext cx="56808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2" name=""/>
          <p:cNvSpPr/>
          <p:nvPr/>
        </p:nvSpPr>
        <p:spPr>
          <a:xfrm>
            <a:off x="461160" y="3019320"/>
            <a:ext cx="1367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Original Fortran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"/>
          <p:cNvSpPr/>
          <p:nvPr/>
        </p:nvSpPr>
        <p:spPr>
          <a:xfrm>
            <a:off x="1953000" y="5029200"/>
            <a:ext cx="22824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Preprocessed Fortran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(modules and functions inlined, macros expanded)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4" name="" descr=""/>
          <p:cNvPicPr/>
          <p:nvPr/>
        </p:nvPicPr>
        <p:blipFill>
          <a:blip r:embed="rId7"/>
          <a:stretch/>
        </p:blipFill>
        <p:spPr>
          <a:xfrm>
            <a:off x="1104120" y="16477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5" name=""/>
          <p:cNvSpPr/>
          <p:nvPr/>
        </p:nvSpPr>
        <p:spPr>
          <a:xfrm>
            <a:off x="3780000" y="31633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Unoptimized DaCe SDFGs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6" name="" descr=""/>
          <p:cNvPicPr/>
          <p:nvPr/>
        </p:nvPicPr>
        <p:blipFill>
          <a:blip r:embed="rId8"/>
          <a:stretch/>
        </p:blipFill>
        <p:spPr>
          <a:xfrm>
            <a:off x="6495840" y="4162680"/>
            <a:ext cx="857160" cy="11386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17" name="Google Shape;107;p 8" descr=""/>
          <p:cNvPicPr/>
          <p:nvPr/>
        </p:nvPicPr>
        <p:blipFill>
          <a:blip r:embed="rId9"/>
          <a:stretch/>
        </p:blipFill>
        <p:spPr>
          <a:xfrm>
            <a:off x="6198120" y="3933720"/>
            <a:ext cx="56808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8" name=""/>
          <p:cNvSpPr/>
          <p:nvPr/>
        </p:nvSpPr>
        <p:spPr>
          <a:xfrm>
            <a:off x="6237360" y="5533920"/>
            <a:ext cx="15962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SDFG Amenable to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Accelerator Optimization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9" name="" descr=""/>
          <p:cNvPicPr/>
          <p:nvPr/>
        </p:nvPicPr>
        <p:blipFill>
          <a:blip r:embed="rId10"/>
          <a:stretch/>
        </p:blipFill>
        <p:spPr>
          <a:xfrm>
            <a:off x="9631440" y="443736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0" name="" descr=""/>
          <p:cNvPicPr/>
          <p:nvPr/>
        </p:nvPicPr>
        <p:blipFill>
          <a:blip r:embed="rId11"/>
          <a:stretch/>
        </p:blipFill>
        <p:spPr>
          <a:xfrm>
            <a:off x="10770480" y="4452120"/>
            <a:ext cx="7246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1" name="" descr="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0460520" y="4161600"/>
            <a:ext cx="457200" cy="51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2" name=""/>
          <p:cNvSpPr/>
          <p:nvPr/>
        </p:nvSpPr>
        <p:spPr>
          <a:xfrm>
            <a:off x="9709200" y="5605920"/>
            <a:ext cx="159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Generated Source 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3" name="" descr=""/>
          <p:cNvPicPr/>
          <p:nvPr/>
        </p:nvPicPr>
        <p:blipFill>
          <a:blip r:embed="rId14"/>
          <a:stretch/>
        </p:blipFill>
        <p:spPr>
          <a:xfrm>
            <a:off x="9205560" y="4161600"/>
            <a:ext cx="693360" cy="5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4" name=""/>
          <p:cNvSpPr/>
          <p:nvPr/>
        </p:nvSpPr>
        <p:spPr>
          <a:xfrm flipV="1">
            <a:off x="3033000" y="307980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5" name=""/>
          <p:cNvSpPr/>
          <p:nvPr/>
        </p:nvSpPr>
        <p:spPr>
          <a:xfrm>
            <a:off x="1492200" y="301932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6" name=""/>
          <p:cNvSpPr/>
          <p:nvPr/>
        </p:nvSpPr>
        <p:spPr>
          <a:xfrm>
            <a:off x="5450400" y="312804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27" name="" descr=""/>
          <p:cNvPicPr/>
          <p:nvPr/>
        </p:nvPicPr>
        <p:blipFill>
          <a:blip r:embed="rId15"/>
          <a:stretch/>
        </p:blipFill>
        <p:spPr>
          <a:xfrm>
            <a:off x="8034840" y="1600560"/>
            <a:ext cx="857160" cy="11386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28" name="Google Shape;107;p 1" descr=""/>
          <p:cNvPicPr/>
          <p:nvPr/>
        </p:nvPicPr>
        <p:blipFill>
          <a:blip r:embed="rId16"/>
          <a:stretch/>
        </p:blipFill>
        <p:spPr>
          <a:xfrm>
            <a:off x="7737120" y="1371600"/>
            <a:ext cx="56808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9" name=""/>
          <p:cNvSpPr/>
          <p:nvPr/>
        </p:nvSpPr>
        <p:spPr>
          <a:xfrm>
            <a:off x="7776360" y="2971800"/>
            <a:ext cx="15962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Optimized SDFG (for the target accelerator)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"/>
          <p:cNvSpPr/>
          <p:nvPr/>
        </p:nvSpPr>
        <p:spPr>
          <a:xfrm flipV="1">
            <a:off x="7090560" y="320004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1" name=""/>
          <p:cNvSpPr/>
          <p:nvPr/>
        </p:nvSpPr>
        <p:spPr>
          <a:xfrm>
            <a:off x="9372600" y="3200040"/>
            <a:ext cx="685800" cy="6861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2" name=""/>
          <p:cNvSpPr/>
          <p:nvPr/>
        </p:nvSpPr>
        <p:spPr>
          <a:xfrm>
            <a:off x="5486400" y="1600200"/>
            <a:ext cx="1828800" cy="1371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Need to first prepare the SDFG for the Accelerator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"/>
          <p:cNvSpPr/>
          <p:nvPr/>
        </p:nvSpPr>
        <p:spPr>
          <a:xfrm>
            <a:off x="4404960" y="4619520"/>
            <a:ext cx="1767240" cy="15526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And then apply accelerator-specific optimizations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"/>
          <p:cNvSpPr/>
          <p:nvPr/>
        </p:nvSpPr>
        <p:spPr>
          <a:xfrm>
            <a:off x="9662760" y="1600200"/>
            <a:ext cx="1995840" cy="1781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With this approach we obtain ~1.5x speed-up over expert-tuned 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831F1866-5DB3-4BC5-AEAD-5050F97D3D62}" type="slidenum">
              <a:t>4</a:t>
            </a:fld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4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Optimizing ICON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"/>
          <p:cNvSpPr/>
          <p:nvPr/>
        </p:nvSpPr>
        <p:spPr>
          <a:xfrm>
            <a:off x="457200" y="1371600"/>
            <a:ext cx="1119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First step to optimize ICON involves lifting ICON’s Fortran source code into the Stateful Dataflow MultiGraphs (SDFG) IR.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7" name="" descr=""/>
          <p:cNvPicPr/>
          <p:nvPr/>
        </p:nvPicPr>
        <p:blipFill>
          <a:blip r:embed="rId1"/>
          <a:srcRect l="0" t="0" r="0" b="83309"/>
          <a:stretch/>
        </p:blipFill>
        <p:spPr>
          <a:xfrm>
            <a:off x="3429000" y="2971800"/>
            <a:ext cx="4799880" cy="185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79DA86D-49FF-4E95-B242-A6CD7BE08580}" type="slidenum">
              <a:t>5</a:t>
            </a:fld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6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Optimizing ICON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"/>
          <p:cNvSpPr/>
          <p:nvPr/>
        </p:nvSpPr>
        <p:spPr>
          <a:xfrm>
            <a:off x="457200" y="1371600"/>
            <a:ext cx="1119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 second step we collect the configuration-dependent constant and possible configurations necessary by the configurations used for the Gordon-Bell run and obtain a specialized SDFG per configuration.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0" name="" descr=""/>
          <p:cNvPicPr/>
          <p:nvPr/>
        </p:nvPicPr>
        <p:blipFill>
          <a:blip r:embed="rId1"/>
          <a:srcRect l="-414" t="16662" r="12" b="43321"/>
          <a:stretch/>
        </p:blipFill>
        <p:spPr>
          <a:xfrm>
            <a:off x="3657600" y="2057400"/>
            <a:ext cx="4799520" cy="443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5F655B4-EF73-4E1A-8A5B-14D34DE548FD}" type="slidenum">
              <a:t>6</a:t>
            </a:fld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7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Optimizing ICON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"/>
          <p:cNvSpPr/>
          <p:nvPr/>
        </p:nvSpPr>
        <p:spPr>
          <a:xfrm>
            <a:off x="457200" y="1371600"/>
            <a:ext cx="1119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optimize the specialized SDFGs depending on the target hardware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3" name="" descr=""/>
          <p:cNvPicPr/>
          <p:nvPr/>
        </p:nvPicPr>
        <p:blipFill>
          <a:blip r:embed="rId1"/>
          <a:srcRect l="0" t="57589" r="12" b="0"/>
          <a:stretch/>
        </p:blipFill>
        <p:spPr>
          <a:xfrm>
            <a:off x="3717000" y="1792800"/>
            <a:ext cx="4799880" cy="471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4" name="" descr=""/>
          <p:cNvPicPr/>
          <p:nvPr/>
        </p:nvPicPr>
        <p:blipFill>
          <a:blip r:embed="rId2"/>
          <a:stretch/>
        </p:blipFill>
        <p:spPr>
          <a:xfrm>
            <a:off x="6100200" y="5767920"/>
            <a:ext cx="565200" cy="48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88A0287-1404-49DB-8F1B-2E5C80534CB0}" type="slidenum">
              <a:t>7</a:t>
            </a:fld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8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Optimizing ICON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"/>
          <p:cNvSpPr/>
          <p:nvPr/>
        </p:nvSpPr>
        <p:spPr>
          <a:xfrm>
            <a:off x="457200" y="2057400"/>
            <a:ext cx="5942880" cy="39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full optimization pipeline looks as follows: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Lift control-flow centric IR into data-flow IR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Automatically or manually collect configurations and generate specialized SDFGs.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Optimize each specialized SDFG individually.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→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This automated pipeline also improves maintainability, while improving performance, by removing all pre-processor pragmas and decreasing LoC in Velocity Tendencies module of ICON by ~35%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7" name="" descr=""/>
          <p:cNvPicPr/>
          <p:nvPr/>
        </p:nvPicPr>
        <p:blipFill>
          <a:blip r:embed="rId1"/>
          <a:stretch/>
        </p:blipFill>
        <p:spPr>
          <a:xfrm>
            <a:off x="6400800" y="0"/>
            <a:ext cx="29588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8" name="" descr=""/>
          <p:cNvPicPr/>
          <p:nvPr/>
        </p:nvPicPr>
        <p:blipFill>
          <a:blip r:embed="rId2"/>
          <a:stretch/>
        </p:blipFill>
        <p:spPr>
          <a:xfrm>
            <a:off x="7891200" y="6400800"/>
            <a:ext cx="311040" cy="2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E3932E0-F4B5-4539-BBD9-682CA4C5EB3E}" type="slidenum">
              <a:t>8</a:t>
            </a:fld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" descr=""/>
          <p:cNvPicPr/>
          <p:nvPr/>
        </p:nvPicPr>
        <p:blipFill>
          <a:blip r:embed="rId1"/>
          <a:stretch/>
        </p:blipFill>
        <p:spPr>
          <a:xfrm>
            <a:off x="3703320" y="1143000"/>
            <a:ext cx="4518000" cy="547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0" name="PlaceHolder 63"/>
          <p:cNvSpPr/>
          <p:nvPr/>
        </p:nvSpPr>
        <p:spPr>
          <a:xfrm>
            <a:off x="191520" y="921960"/>
            <a:ext cx="11764440" cy="524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How do we Decouple Optimizations from Source Code?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 Brief Introduction to the SDFG IR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"/>
          <p:cNvSpPr/>
          <p:nvPr/>
        </p:nvSpPr>
        <p:spPr>
          <a:xfrm>
            <a:off x="7578000" y="2536920"/>
            <a:ext cx="3699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bf0041"/>
                </a:solidFill>
                <a:effectLst/>
                <a:uFillTx/>
                <a:latin typeface="Arial"/>
                <a:ea typeface="Noto Sans CJK SC"/>
              </a:rPr>
              <a:t>Map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: 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Defines a parallel region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"/>
          <p:cNvSpPr/>
          <p:nvPr/>
        </p:nvSpPr>
        <p:spPr>
          <a:xfrm>
            <a:off x="6172200" y="1600200"/>
            <a:ext cx="547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AccessNode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D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efines an access to a data 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"/>
          <p:cNvSpPr/>
          <p:nvPr/>
        </p:nvSpPr>
        <p:spPr>
          <a:xfrm>
            <a:off x="6750000" y="3688560"/>
            <a:ext cx="479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Tasklet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D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efines an operation on data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E67AF10D-C536-4BD5-B8D7-7352B7CE8DC9}" type="slidenum">
              <a:t>9</a:t>
            </a:fld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" descr=""/>
          <p:cNvPicPr/>
          <p:nvPr/>
        </p:nvPicPr>
        <p:blipFill>
          <a:blip r:embed="rId1"/>
          <a:stretch/>
        </p:blipFill>
        <p:spPr>
          <a:xfrm>
            <a:off x="655200" y="1600200"/>
            <a:ext cx="3579840" cy="434052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55" name="" descr=""/>
          <p:cNvPicPr/>
          <p:nvPr/>
        </p:nvPicPr>
        <p:blipFill>
          <a:blip r:embed="rId2"/>
          <a:srcRect l="7794" t="28531" r="7637" b="14205"/>
          <a:stretch/>
        </p:blipFill>
        <p:spPr>
          <a:xfrm>
            <a:off x="3200400" y="3886200"/>
            <a:ext cx="4340520" cy="1576080"/>
          </a:xfrm>
          <a:prstGeom prst="rect">
            <a:avLst/>
          </a:prstGeom>
          <a:noFill/>
          <a:ln w="0">
            <a:noFill/>
          </a:ln>
          <a:effectLst>
            <a:outerShdw blurRad="0" dir="0" dist="127080" rotWithShape="0">
              <a:srgbClr val="666666"/>
            </a:outerShdw>
          </a:effectLst>
        </p:spPr>
      </p:pic>
      <p:sp>
        <p:nvSpPr>
          <p:cNvPr id="1056" name="PlaceHolder 16"/>
          <p:cNvSpPr/>
          <p:nvPr/>
        </p:nvSpPr>
        <p:spPr>
          <a:xfrm>
            <a:off x="191520" y="806760"/>
            <a:ext cx="11764440" cy="524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How do we Decouple Optimizations from Source Code?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 Brief Introduction to the SDFG IR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0DBFFD13-B7F8-42EB-8F63-7DE47842D3AC}" type="slidenum">
              <a:t>10</a:t>
            </a:fld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" descr=""/>
          <p:cNvPicPr/>
          <p:nvPr/>
        </p:nvPicPr>
        <p:blipFill>
          <a:blip r:embed="rId1"/>
          <a:stretch/>
        </p:blipFill>
        <p:spPr>
          <a:xfrm>
            <a:off x="655200" y="1600200"/>
            <a:ext cx="3579840" cy="434052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58" name="" descr=""/>
          <p:cNvPicPr/>
          <p:nvPr/>
        </p:nvPicPr>
        <p:blipFill>
          <a:blip r:embed="rId2"/>
          <a:srcRect l="7794" t="28531" r="7637" b="14205"/>
          <a:stretch/>
        </p:blipFill>
        <p:spPr>
          <a:xfrm>
            <a:off x="3200400" y="3886200"/>
            <a:ext cx="4340520" cy="1576080"/>
          </a:xfrm>
          <a:prstGeom prst="rect">
            <a:avLst/>
          </a:prstGeom>
          <a:noFill/>
          <a:ln w="0">
            <a:noFill/>
          </a:ln>
          <a:effectLst>
            <a:outerShdw blurRad="0" dir="0" dist="127080" rotWithShape="0">
              <a:srgbClr val="666666"/>
            </a:outerShdw>
          </a:effectLst>
        </p:spPr>
      </p:pic>
      <p:pic>
        <p:nvPicPr>
          <p:cNvPr id="1059" name="" descr=""/>
          <p:cNvPicPr/>
          <p:nvPr/>
        </p:nvPicPr>
        <p:blipFill>
          <a:blip r:embed="rId3"/>
          <a:stretch/>
        </p:blipFill>
        <p:spPr>
          <a:xfrm>
            <a:off x="7772400" y="1371600"/>
            <a:ext cx="3208320" cy="456912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060" name=""/>
          <p:cNvSpPr/>
          <p:nvPr/>
        </p:nvSpPr>
        <p:spPr>
          <a:xfrm>
            <a:off x="4572000" y="3657600"/>
            <a:ext cx="2971800" cy="360"/>
          </a:xfrm>
          <a:prstGeom prst="line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-30600" bIns="-306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1" name=""/>
          <p:cNvSpPr/>
          <p:nvPr/>
        </p:nvSpPr>
        <p:spPr>
          <a:xfrm>
            <a:off x="4523400" y="2903760"/>
            <a:ext cx="3427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 operations are written as transformations on the IR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17"/>
          <p:cNvSpPr/>
          <p:nvPr/>
        </p:nvSpPr>
        <p:spPr>
          <a:xfrm>
            <a:off x="191520" y="806760"/>
            <a:ext cx="11764440" cy="524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How do we Decouple Optimizations from Source Code?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 Brief Introduction to the SDFG IR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49034AD4-B24F-4045-A9FE-83BBEE9EA67F}" type="slidenum">
              <a:t>11</a:t>
            </a:fld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191520" y="533520"/>
            <a:ext cx="11746800" cy="506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40400" rIns="14400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 Small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Introductio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n to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ICON’s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Weather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Stencils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4" name="" descr=""/>
          <p:cNvPicPr/>
          <p:nvPr/>
        </p:nvPicPr>
        <p:blipFill>
          <a:blip r:embed="rId1"/>
          <a:stretch/>
        </p:blipFill>
        <p:spPr>
          <a:xfrm>
            <a:off x="2971800" y="2170800"/>
            <a:ext cx="5858640" cy="354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5" name=""/>
          <p:cNvSpPr/>
          <p:nvPr/>
        </p:nvSpPr>
        <p:spPr>
          <a:xfrm>
            <a:off x="1215000" y="5533920"/>
            <a:ext cx="5029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Grid Decomposition and Layout of ICON Grids*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"/>
          <p:cNvSpPr/>
          <p:nvPr/>
        </p:nvSpPr>
        <p:spPr>
          <a:xfrm>
            <a:off x="228600" y="6436800"/>
            <a:ext cx="10514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</a:t>
            </a:r>
            <a:r>
              <a:rPr b="0" lang="en-US" sz="1000" strike="noStrike" u="none">
                <a:solidFill>
                  <a:srgbClr val="1269b0"/>
                </a:solidFill>
                <a:effectLst/>
                <a:uFillTx/>
                <a:latin typeface="Arial"/>
                <a:ea typeface="DejaVu Sans"/>
                <a:hlinkClick r:id="rId2"/>
              </a:rPr>
              <a:t>https://www.dwd.de/DE/leistungen/nwv_icon_tutorial/nwv_icon_tutorial.html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(ICON Tutorial 2024)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7" name="" descr=""/>
          <p:cNvPicPr/>
          <p:nvPr/>
        </p:nvPicPr>
        <p:blipFill>
          <a:blip r:embed="rId3"/>
          <a:stretch/>
        </p:blipFill>
        <p:spPr>
          <a:xfrm>
            <a:off x="7086600" y="4265640"/>
            <a:ext cx="2197440" cy="21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8" name=""/>
          <p:cNvSpPr txBox="1"/>
          <p:nvPr/>
        </p:nvSpPr>
        <p:spPr>
          <a:xfrm>
            <a:off x="6544440" y="2170800"/>
            <a:ext cx="2286000" cy="2094840"/>
          </a:xfrm>
          <a:prstGeom prst="rect">
            <a:avLst/>
          </a:prstGeom>
          <a:blipFill rotWithShape="0">
            <a:blip r:embed="rId4"/>
            <a:srcRect l="61274" t="0" r="0" b="41348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457200" y="1143000"/>
            <a:ext cx="105156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Weather stencils are mostly semi-structured over two dimensions where the vertical dimension `nlev` is structured and `nproma * nbloks` domain is unstructured and blocked with the factor `nproma` for improved cache loaclity.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0" name="" descr=""/>
          <p:cNvPicPr/>
          <p:nvPr/>
        </p:nvPicPr>
        <p:blipFill>
          <a:blip r:embed="rId5"/>
          <a:srcRect l="14051" t="32069" r="15920" b="23110"/>
          <a:stretch/>
        </p:blipFill>
        <p:spPr>
          <a:xfrm>
            <a:off x="8494560" y="2935440"/>
            <a:ext cx="2970360" cy="12142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3" name="PlaceHolder 2"/>
          <p:cNvSpPr>
            <a:spLocks noGrp="1"/>
          </p:cNvSpPr>
          <p:nvPr>
            <p:ph type="sldNum" idx="84"/>
          </p:nvPr>
        </p:nvSpPr>
        <p:spPr/>
        <p:txBody>
          <a:bodyPr/>
          <a:p>
            <a:fld id="{1D5A821C-532B-4EBF-928F-9A8D60B7FD9E}" type="slidenum">
              <a:t>12</a:t>
            </a:fld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9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An Example for a Configuration Specific Optimization: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2" name="" descr=""/>
          <p:cNvPicPr/>
          <p:nvPr/>
        </p:nvPicPr>
        <p:blipFill>
          <a:blip r:embed="rId1"/>
          <a:srcRect l="14148" t="23516" r="10369" b="17656"/>
          <a:stretch/>
        </p:blipFill>
        <p:spPr>
          <a:xfrm>
            <a:off x="914400" y="2743560"/>
            <a:ext cx="4114080" cy="257076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73" name="" descr=""/>
          <p:cNvPicPr/>
          <p:nvPr/>
        </p:nvPicPr>
        <p:blipFill>
          <a:blip r:embed="rId2"/>
          <a:srcRect l="14051" t="34845" r="12739" b="20334"/>
          <a:stretch/>
        </p:blipFill>
        <p:spPr>
          <a:xfrm>
            <a:off x="7086960" y="3200400"/>
            <a:ext cx="3656520" cy="14302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074" name=""/>
          <p:cNvSpPr/>
          <p:nvPr/>
        </p:nvSpPr>
        <p:spPr>
          <a:xfrm>
            <a:off x="5029200" y="3886200"/>
            <a:ext cx="1600200" cy="3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35640" bIns="-35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5" name=""/>
          <p:cNvSpPr/>
          <p:nvPr/>
        </p:nvSpPr>
        <p:spPr>
          <a:xfrm>
            <a:off x="4344120" y="2058120"/>
            <a:ext cx="43426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Gordon-Bell configuration uses `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trave_solver_type = 5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`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>
            <a:off x="457200" y="1235520"/>
            <a:ext cx="1119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propagate all known configuration dependent constants and aggressively fuse kernels.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A073553-D729-4662-BF4C-B90EFD720C2F}" type="slidenum">
              <a:t>13</a:t>
            </a:fld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3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An Example for a Configuration Specific Optimization: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"/>
          <p:cNvSpPr/>
          <p:nvPr/>
        </p:nvSpPr>
        <p:spPr>
          <a:xfrm>
            <a:off x="457200" y="1275120"/>
            <a:ext cx="1119924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propagate all known configuration dependent value sets and aggressively fuse kernels.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 example `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istep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` can have the values `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{1, 2}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`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9" name="" descr=""/>
          <p:cNvPicPr/>
          <p:nvPr/>
        </p:nvPicPr>
        <p:blipFill>
          <a:blip r:embed="rId1"/>
          <a:srcRect l="11854" t="15512" r="11086" b="7015"/>
          <a:stretch/>
        </p:blipFill>
        <p:spPr>
          <a:xfrm>
            <a:off x="1143000" y="2153880"/>
            <a:ext cx="3428280" cy="44838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80" name="" descr=""/>
          <p:cNvPicPr/>
          <p:nvPr/>
        </p:nvPicPr>
        <p:blipFill>
          <a:blip r:embed="rId2"/>
          <a:srcRect l="14051" t="31171" r="12739" b="17209"/>
          <a:stretch/>
        </p:blipFill>
        <p:spPr>
          <a:xfrm>
            <a:off x="6858000" y="4492800"/>
            <a:ext cx="3656880" cy="190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1" name="" descr=""/>
          <p:cNvPicPr/>
          <p:nvPr/>
        </p:nvPicPr>
        <p:blipFill>
          <a:blip r:embed="rId3"/>
          <a:srcRect l="13570" t="28727" r="13216" b="19658"/>
          <a:stretch/>
        </p:blipFill>
        <p:spPr>
          <a:xfrm>
            <a:off x="6858000" y="2206800"/>
            <a:ext cx="3656880" cy="190728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082" name=""/>
          <p:cNvSpPr/>
          <p:nvPr/>
        </p:nvSpPr>
        <p:spPr>
          <a:xfrm flipV="1">
            <a:off x="4800600" y="3200400"/>
            <a:ext cx="1600200" cy="9144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3" name=""/>
          <p:cNvSpPr/>
          <p:nvPr/>
        </p:nvSpPr>
        <p:spPr>
          <a:xfrm>
            <a:off x="4800600" y="4572000"/>
            <a:ext cx="1600200" cy="9144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4" name=""/>
          <p:cNvSpPr/>
          <p:nvPr/>
        </p:nvSpPr>
        <p:spPr>
          <a:xfrm>
            <a:off x="4800600" y="2543400"/>
            <a:ext cx="182808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Specialize for `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istep == 1`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4801320" y="5587920"/>
            <a:ext cx="182808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Specialize for `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istep == 2`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FD001B0-62E1-441D-8564-A2CDCD9D6127}" type="slidenum">
              <a:t>14</a:t>
            </a:fld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20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An Example For A Target-Specific Optimization: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7" name="" descr=""/>
          <p:cNvPicPr/>
          <p:nvPr/>
        </p:nvPicPr>
        <p:blipFill>
          <a:blip r:embed="rId1"/>
          <a:srcRect l="9771" t="35945" r="12047" b="22381"/>
          <a:stretch/>
        </p:blipFill>
        <p:spPr>
          <a:xfrm>
            <a:off x="264960" y="1960560"/>
            <a:ext cx="4387320" cy="13698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088" name="" descr=""/>
          <p:cNvPicPr/>
          <p:nvPr/>
        </p:nvPicPr>
        <p:blipFill>
          <a:blip r:embed="rId2"/>
          <a:srcRect l="12007" t="32848" r="10107" b="17146"/>
          <a:stretch/>
        </p:blipFill>
        <p:spPr>
          <a:xfrm>
            <a:off x="6629400" y="1909800"/>
            <a:ext cx="4734720" cy="174312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666666"/>
            </a:outerShdw>
          </a:effectLst>
        </p:spPr>
      </p:pic>
      <p:sp>
        <p:nvSpPr>
          <p:cNvPr id="1089" name=""/>
          <p:cNvSpPr/>
          <p:nvPr/>
        </p:nvSpPr>
        <p:spPr>
          <a:xfrm>
            <a:off x="4836600" y="2574000"/>
            <a:ext cx="1371600" cy="3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0" name=""/>
          <p:cNvSpPr/>
          <p:nvPr/>
        </p:nvSpPr>
        <p:spPr>
          <a:xfrm>
            <a:off x="4464000" y="2116800"/>
            <a:ext cx="2284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Schedule Kernels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1" name="" descr=""/>
          <p:cNvPicPr/>
          <p:nvPr/>
        </p:nvPicPr>
        <p:blipFill>
          <a:blip r:embed="rId3"/>
          <a:srcRect l="13223" t="31409" r="10851" b="17152"/>
          <a:stretch/>
        </p:blipFill>
        <p:spPr>
          <a:xfrm>
            <a:off x="457560" y="4378320"/>
            <a:ext cx="4341960" cy="185976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092" name=""/>
          <p:cNvSpPr/>
          <p:nvPr/>
        </p:nvSpPr>
        <p:spPr>
          <a:xfrm>
            <a:off x="2286360" y="3267720"/>
            <a:ext cx="360" cy="9144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3" name=""/>
          <p:cNvSpPr/>
          <p:nvPr/>
        </p:nvSpPr>
        <p:spPr>
          <a:xfrm>
            <a:off x="2514960" y="3547800"/>
            <a:ext cx="41144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Move If Inside Loop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(to extend kernel dimensions)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4" name="" descr=""/>
          <p:cNvPicPr/>
          <p:nvPr/>
        </p:nvPicPr>
        <p:blipFill>
          <a:blip r:embed="rId4"/>
          <a:srcRect l="10315" t="34188" r="11110" b="20960"/>
          <a:stretch/>
        </p:blipFill>
        <p:spPr>
          <a:xfrm>
            <a:off x="6629400" y="4644000"/>
            <a:ext cx="5256360" cy="143244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095" name=""/>
          <p:cNvSpPr/>
          <p:nvPr/>
        </p:nvSpPr>
        <p:spPr>
          <a:xfrm>
            <a:off x="4800600" y="5329800"/>
            <a:ext cx="1371600" cy="3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6" name=""/>
          <p:cNvSpPr/>
          <p:nvPr/>
        </p:nvSpPr>
        <p:spPr>
          <a:xfrm>
            <a:off x="4536000" y="5547960"/>
            <a:ext cx="2284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Schedule Kernels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"/>
          <p:cNvSpPr/>
          <p:nvPr/>
        </p:nvSpPr>
        <p:spPr>
          <a:xfrm>
            <a:off x="349200" y="1271520"/>
            <a:ext cx="1119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perform optimizations to increase the kernel dimension sizes even if it means we duplicate computation.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>
            <a:off x="9865800" y="2214000"/>
            <a:ext cx="4572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"/>
          <p:cNvSpPr/>
          <p:nvPr/>
        </p:nvSpPr>
        <p:spPr>
          <a:xfrm>
            <a:off x="7736400" y="4993200"/>
            <a:ext cx="4572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7651800" y="49212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700" strike="noStrike" u="none">
                <a:solidFill>
                  <a:srgbClr val="158466"/>
                </a:solidFill>
                <a:effectLst/>
                <a:uFillTx/>
                <a:latin typeface="Arial"/>
              </a:rPr>
              <a:t>Acc.</a:t>
            </a:r>
            <a:endParaRPr b="0" lang="en-US" sz="1700" strike="noStrike" u="none">
              <a:solidFill>
                <a:srgbClr val="158466"/>
              </a:solidFill>
              <a:effectLst/>
              <a:uFillTx/>
              <a:latin typeface="Arial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9793800" y="2165400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700" strike="noStrike" u="none">
                <a:solidFill>
                  <a:srgbClr val="158466"/>
                </a:solidFill>
                <a:effectLst/>
                <a:uFillTx/>
                <a:latin typeface="Arial"/>
              </a:rPr>
              <a:t>Acc.</a:t>
            </a:r>
            <a:endParaRPr b="0" lang="en-US" sz="1700" strike="noStrike" u="none">
              <a:solidFill>
                <a:srgbClr val="158466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C3F870C-E179-4786-AB07-5CEE525ABCE2}" type="slidenum">
              <a:t>15</a:t>
            </a:fld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2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Impact of the Optimizations: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3" name="" descr=""/>
          <p:cNvPicPr/>
          <p:nvPr/>
        </p:nvPicPr>
        <p:blipFill>
          <a:blip r:embed="rId1"/>
          <a:stretch/>
        </p:blipFill>
        <p:spPr>
          <a:xfrm>
            <a:off x="2835000" y="1371600"/>
            <a:ext cx="6305040" cy="525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4" name=""/>
          <p:cNvSpPr/>
          <p:nvPr/>
        </p:nvSpPr>
        <p:spPr>
          <a:xfrm>
            <a:off x="9144000" y="3200400"/>
            <a:ext cx="22852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1.5x speedup by applying configuration-propagation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693D6FE-7AA1-4AC1-8E13-5C32930DF7DC}" type="slidenum">
              <a:t>16</a:t>
            </a:fld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1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Impact of the Optimizations: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6" name="" descr=""/>
          <p:cNvPicPr/>
          <p:nvPr/>
        </p:nvPicPr>
        <p:blipFill>
          <a:blip r:embed="rId1"/>
          <a:srcRect l="0" t="0" r="7" b="1966"/>
          <a:stretch/>
        </p:blipFill>
        <p:spPr>
          <a:xfrm>
            <a:off x="1846080" y="1371600"/>
            <a:ext cx="7297200" cy="525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7" name=""/>
          <p:cNvSpPr/>
          <p:nvPr/>
        </p:nvSpPr>
        <p:spPr>
          <a:xfrm>
            <a:off x="9166680" y="1943640"/>
            <a:ext cx="2739240" cy="26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1.2x speedup on optimized section of ICON.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1.1x overall over expert-tuned OpenACC code, over complete ICON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"/>
          <p:cNvSpPr/>
          <p:nvPr/>
        </p:nvSpPr>
        <p:spPr>
          <a:xfrm>
            <a:off x="9007560" y="1913400"/>
            <a:ext cx="360" cy="457200"/>
          </a:xfrm>
          <a:prstGeom prst="line">
            <a:avLst/>
          </a:prstGeom>
          <a:ln w="29160">
            <a:solidFill>
              <a:srgbClr val="bf0041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76107B2-08C2-468C-802B-716002C82AA5}" type="slidenum">
              <a:t>17</a:t>
            </a:fld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24"/>
          <p:cNvSpPr/>
          <p:nvPr/>
        </p:nvSpPr>
        <p:spPr>
          <a:xfrm>
            <a:off x="191520" y="540720"/>
            <a:ext cx="11764800" cy="524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Specialization of Reductions, Copies and Memsets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"/>
          <p:cNvSpPr/>
          <p:nvPr/>
        </p:nvSpPr>
        <p:spPr>
          <a:xfrm flipV="1">
            <a:off x="4800600" y="1600200"/>
            <a:ext cx="2514600" cy="20574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1" name=""/>
          <p:cNvSpPr/>
          <p:nvPr/>
        </p:nvSpPr>
        <p:spPr>
          <a:xfrm>
            <a:off x="4800600" y="3657600"/>
            <a:ext cx="4800600" cy="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2" name=""/>
          <p:cNvSpPr/>
          <p:nvPr/>
        </p:nvSpPr>
        <p:spPr>
          <a:xfrm>
            <a:off x="4800600" y="3657600"/>
            <a:ext cx="2514600" cy="20574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3" name=""/>
          <p:cNvSpPr/>
          <p:nvPr/>
        </p:nvSpPr>
        <p:spPr>
          <a:xfrm>
            <a:off x="3657600" y="5285520"/>
            <a:ext cx="2975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.library.specialize(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SoftHier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"/>
          <p:cNvSpPr/>
          <p:nvPr/>
        </p:nvSpPr>
        <p:spPr>
          <a:xfrm>
            <a:off x="3651840" y="2057400"/>
            <a:ext cx="2975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.library.specialize(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Pure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5" name="" descr=""/>
          <p:cNvPicPr/>
          <p:nvPr/>
        </p:nvPicPr>
        <p:blipFill>
          <a:blip r:embed="rId1"/>
          <a:stretch/>
        </p:blipFill>
        <p:spPr>
          <a:xfrm>
            <a:off x="1143000" y="2619720"/>
            <a:ext cx="1624320" cy="263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6" name="" descr=""/>
          <p:cNvPicPr/>
          <p:nvPr/>
        </p:nvPicPr>
        <p:blipFill>
          <a:blip r:embed="rId2"/>
          <a:stretch/>
        </p:blipFill>
        <p:spPr>
          <a:xfrm>
            <a:off x="7518600" y="1143000"/>
            <a:ext cx="1623240" cy="211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7" name="" descr=""/>
          <p:cNvPicPr/>
          <p:nvPr/>
        </p:nvPicPr>
        <p:blipFill>
          <a:blip r:embed="rId3"/>
          <a:stretch/>
        </p:blipFill>
        <p:spPr>
          <a:xfrm>
            <a:off x="9727560" y="2564640"/>
            <a:ext cx="1702440" cy="246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8" name="" descr=""/>
          <p:cNvPicPr/>
          <p:nvPr/>
        </p:nvPicPr>
        <p:blipFill>
          <a:blip r:embed="rId4"/>
          <a:stretch/>
        </p:blipFill>
        <p:spPr>
          <a:xfrm>
            <a:off x="7520760" y="4343400"/>
            <a:ext cx="1623240" cy="211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9" name=""/>
          <p:cNvSpPr txBox="1"/>
          <p:nvPr/>
        </p:nvSpPr>
        <p:spPr>
          <a:xfrm>
            <a:off x="8686800" y="2971800"/>
            <a:ext cx="68364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CPU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10587600" y="4700160"/>
            <a:ext cx="13716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Accelerator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8458200" y="6172200"/>
            <a:ext cx="13716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SoftHier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"/>
          <p:cNvSpPr/>
          <p:nvPr/>
        </p:nvSpPr>
        <p:spPr>
          <a:xfrm>
            <a:off x="349200" y="1271520"/>
            <a:ext cx="6508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Existing optimizations strategies rarely work out-of-the-box for new accelerators. Thus we specialize the reductions depending on the target.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"/>
          <p:cNvSpPr/>
          <p:nvPr/>
        </p:nvSpPr>
        <p:spPr>
          <a:xfrm>
            <a:off x="3651840" y="3886200"/>
            <a:ext cx="2975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.library.specialize(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Accelerator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  <a:ea typeface="DejaVu Sans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9328A2D7-04E0-42BF-94C6-AF3105A2A863}" type="slidenum">
              <a:t>18</a:t>
            </a:fld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21"/>
          <p:cNvSpPr/>
          <p:nvPr/>
        </p:nvSpPr>
        <p:spPr>
          <a:xfrm>
            <a:off x="191520" y="540720"/>
            <a:ext cx="11764800" cy="524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Specialization of NeighborLists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228600" y="1143000"/>
            <a:ext cx="11430000" cy="6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Making all computation in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FP64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and declaring everything in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int64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is not always necessary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weather stencils are memory bound!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6" name="" descr=""/>
          <p:cNvPicPr/>
          <p:nvPr/>
        </p:nvPicPr>
        <p:blipFill>
          <a:blip r:embed="rId1"/>
          <a:stretch/>
        </p:blipFill>
        <p:spPr>
          <a:xfrm>
            <a:off x="8420400" y="2995200"/>
            <a:ext cx="2057400" cy="24948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127" name=""/>
          <p:cNvSpPr txBox="1"/>
          <p:nvPr/>
        </p:nvSpPr>
        <p:spPr>
          <a:xfrm>
            <a:off x="8420400" y="5190120"/>
            <a:ext cx="20574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int64_SDFG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 Mono"/>
            </a:endParaRPr>
          </a:p>
        </p:txBody>
      </p:sp>
      <p:pic>
        <p:nvPicPr>
          <p:cNvPr id="1128" name="" descr=""/>
          <p:cNvPicPr/>
          <p:nvPr/>
        </p:nvPicPr>
        <p:blipFill>
          <a:blip r:embed="rId2"/>
          <a:srcRect l="55530" t="0" r="22235" b="82456"/>
          <a:stretch/>
        </p:blipFill>
        <p:spPr>
          <a:xfrm>
            <a:off x="5715000" y="1692360"/>
            <a:ext cx="456840" cy="43704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129" name="" descr=""/>
          <p:cNvPicPr/>
          <p:nvPr/>
        </p:nvPicPr>
        <p:blipFill>
          <a:blip r:embed="rId3"/>
          <a:srcRect l="55530" t="0" r="22235" b="82456"/>
          <a:stretch/>
        </p:blipFill>
        <p:spPr>
          <a:xfrm>
            <a:off x="5715000" y="6035760"/>
            <a:ext cx="456840" cy="43704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cxnSp>
        <p:nvCxnSpPr>
          <p:cNvPr id="1130" name=""/>
          <p:cNvCxnSpPr>
            <a:stCxn id="1128" idx="2"/>
            <a:endCxn id="1126" idx="0"/>
          </p:cNvCxnSpPr>
          <p:nvPr/>
        </p:nvCxnSpPr>
        <p:spPr>
          <a:xfrm flipH="1" rot="16200000">
            <a:off x="7263360" y="809280"/>
            <a:ext cx="866160" cy="3506040"/>
          </a:xfrm>
          <a:prstGeom prst="bentConnector3">
            <a:avLst>
              <a:gd name="adj1" fmla="val 26403"/>
            </a:avLst>
          </a:prstGeom>
          <a:ln w="1908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1131" name=""/>
          <p:cNvCxnSpPr>
            <a:stCxn id="1127" idx="2"/>
            <a:endCxn id="1129" idx="0"/>
          </p:cNvCxnSpPr>
          <p:nvPr/>
        </p:nvCxnSpPr>
        <p:spPr>
          <a:xfrm rot="5400000">
            <a:off x="7450920" y="4037760"/>
            <a:ext cx="490320" cy="3506040"/>
          </a:xfrm>
          <a:prstGeom prst="bentConnector3">
            <a:avLst>
              <a:gd name="adj1" fmla="val 49228"/>
            </a:avLst>
          </a:prstGeom>
          <a:ln w="1908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1132" name=""/>
          <p:cNvSpPr txBox="1"/>
          <p:nvPr/>
        </p:nvSpPr>
        <p:spPr>
          <a:xfrm>
            <a:off x="6400800" y="19008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Original execution path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D1B3A9DD-A6AC-4D2D-BCF2-55B3EAD55611}" type="slidenum">
              <a:t>19</a:t>
            </a:fld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26"/>
          <p:cNvSpPr/>
          <p:nvPr/>
        </p:nvSpPr>
        <p:spPr>
          <a:xfrm>
            <a:off x="191520" y="540720"/>
            <a:ext cx="11764800" cy="524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Specialization of NeighborLists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228600" y="1143000"/>
            <a:ext cx="11430000" cy="6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Making all computation in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FP64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and declaring everything in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int64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is not always necessary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weather stencils are memory bound!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5" name="" descr=""/>
          <p:cNvPicPr/>
          <p:nvPr/>
        </p:nvPicPr>
        <p:blipFill>
          <a:blip r:embed="rId1"/>
          <a:stretch/>
        </p:blipFill>
        <p:spPr>
          <a:xfrm>
            <a:off x="8420400" y="2995200"/>
            <a:ext cx="2057400" cy="24948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136" name=""/>
          <p:cNvSpPr txBox="1"/>
          <p:nvPr/>
        </p:nvSpPr>
        <p:spPr>
          <a:xfrm>
            <a:off x="8420400" y="5190120"/>
            <a:ext cx="20574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int64_SDFG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 Mono"/>
            </a:endParaRPr>
          </a:p>
        </p:txBody>
      </p:sp>
      <p:pic>
        <p:nvPicPr>
          <p:cNvPr id="1137" name="" descr=""/>
          <p:cNvPicPr/>
          <p:nvPr/>
        </p:nvPicPr>
        <p:blipFill>
          <a:blip r:embed="rId2"/>
          <a:srcRect l="55530" t="0" r="22235" b="82456"/>
          <a:stretch/>
        </p:blipFill>
        <p:spPr>
          <a:xfrm>
            <a:off x="5715000" y="1692360"/>
            <a:ext cx="456840" cy="43704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138" name="" descr=""/>
          <p:cNvPicPr/>
          <p:nvPr/>
        </p:nvPicPr>
        <p:blipFill>
          <a:blip r:embed="rId3"/>
          <a:srcRect l="55530" t="0" r="22235" b="82456"/>
          <a:stretch/>
        </p:blipFill>
        <p:spPr>
          <a:xfrm>
            <a:off x="5715000" y="6035760"/>
            <a:ext cx="456840" cy="43704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cxnSp>
        <p:nvCxnSpPr>
          <p:cNvPr id="1139" name=""/>
          <p:cNvCxnSpPr>
            <a:stCxn id="1137" idx="2"/>
            <a:endCxn id="1135" idx="0"/>
          </p:cNvCxnSpPr>
          <p:nvPr/>
        </p:nvCxnSpPr>
        <p:spPr>
          <a:xfrm flipH="1" rot="16200000">
            <a:off x="7263360" y="809280"/>
            <a:ext cx="866160" cy="3506040"/>
          </a:xfrm>
          <a:prstGeom prst="bentConnector3">
            <a:avLst>
              <a:gd name="adj1" fmla="val 26403"/>
            </a:avLst>
          </a:prstGeom>
          <a:ln w="1908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1140" name=""/>
          <p:cNvCxnSpPr>
            <a:stCxn id="1136" idx="2"/>
            <a:endCxn id="1138" idx="0"/>
          </p:cNvCxnSpPr>
          <p:nvPr/>
        </p:nvCxnSpPr>
        <p:spPr>
          <a:xfrm rot="5400000">
            <a:off x="7450920" y="4037760"/>
            <a:ext cx="490320" cy="3506040"/>
          </a:xfrm>
          <a:prstGeom prst="bentConnector3">
            <a:avLst>
              <a:gd name="adj1" fmla="val 49228"/>
            </a:avLst>
          </a:prstGeom>
          <a:ln w="19080">
            <a:solidFill>
              <a:srgbClr val="3465a4"/>
            </a:solidFill>
            <a:round/>
            <a:tailEnd len="med" type="triangle" w="med"/>
          </a:ln>
        </p:spPr>
      </p:cxnSp>
      <p:pic>
        <p:nvPicPr>
          <p:cNvPr id="1141" name="" descr=""/>
          <p:cNvPicPr/>
          <p:nvPr/>
        </p:nvPicPr>
        <p:blipFill>
          <a:blip r:embed="rId4"/>
          <a:srcRect l="35208" t="50040" r="36745" b="35403"/>
          <a:stretch/>
        </p:blipFill>
        <p:spPr>
          <a:xfrm>
            <a:off x="9106560" y="2504880"/>
            <a:ext cx="685800" cy="274320"/>
          </a:xfrm>
          <a:prstGeom prst="rect">
            <a:avLst/>
          </a:prstGeom>
          <a:noFill/>
          <a:ln w="0">
            <a:noFill/>
          </a:ln>
          <a:effectLst>
            <a:outerShdw dist="101823" dir="2700000" blurRad="0" rotWithShape="0">
              <a:srgbClr val="808080"/>
            </a:outerShdw>
          </a:effectLst>
        </p:spPr>
      </p:pic>
      <p:pic>
        <p:nvPicPr>
          <p:cNvPr id="1142" name="" descr=""/>
          <p:cNvPicPr/>
          <p:nvPr/>
        </p:nvPicPr>
        <p:blipFill>
          <a:blip r:embed="rId5"/>
          <a:stretch/>
        </p:blipFill>
        <p:spPr>
          <a:xfrm>
            <a:off x="1562760" y="3011760"/>
            <a:ext cx="2057400" cy="24948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143" name=""/>
          <p:cNvSpPr txBox="1"/>
          <p:nvPr/>
        </p:nvSpPr>
        <p:spPr>
          <a:xfrm>
            <a:off x="1526760" y="5226120"/>
            <a:ext cx="20574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uint16_SDFG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 Mono"/>
            </a:endParaRPr>
          </a:p>
        </p:txBody>
      </p:sp>
      <p:pic>
        <p:nvPicPr>
          <p:cNvPr id="1144" name="" descr=""/>
          <p:cNvPicPr/>
          <p:nvPr/>
        </p:nvPicPr>
        <p:blipFill>
          <a:blip r:embed="rId6"/>
          <a:stretch/>
        </p:blipFill>
        <p:spPr>
          <a:xfrm>
            <a:off x="4908600" y="3011760"/>
            <a:ext cx="2057400" cy="24948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145" name=""/>
          <p:cNvSpPr txBox="1"/>
          <p:nvPr/>
        </p:nvSpPr>
        <p:spPr>
          <a:xfrm>
            <a:off x="4932360" y="5226120"/>
            <a:ext cx="20574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 Mono"/>
              </a:rPr>
              <a:t>uint32_SDFG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 Mono"/>
            </a:endParaRPr>
          </a:p>
        </p:txBody>
      </p:sp>
      <p:sp>
        <p:nvSpPr>
          <p:cNvPr id="1146" name=""/>
          <p:cNvSpPr/>
          <p:nvPr/>
        </p:nvSpPr>
        <p:spPr>
          <a:xfrm>
            <a:off x="5943240" y="2129400"/>
            <a:ext cx="360" cy="8823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7" name="" descr=""/>
          <p:cNvPicPr/>
          <p:nvPr/>
        </p:nvPicPr>
        <p:blipFill>
          <a:blip r:embed="rId7"/>
          <a:srcRect l="20871" t="51254" r="16311" b="36067"/>
          <a:stretch/>
        </p:blipFill>
        <p:spPr>
          <a:xfrm rot="21589800">
            <a:off x="4704120" y="2552400"/>
            <a:ext cx="2742120" cy="236520"/>
          </a:xfrm>
          <a:prstGeom prst="rect">
            <a:avLst/>
          </a:prstGeom>
          <a:noFill/>
          <a:ln w="0">
            <a:noFill/>
          </a:ln>
          <a:effectLst>
            <a:outerShdw dist="101823" dir="2700000" blurRad="0" rotWithShape="0">
              <a:srgbClr val="808080"/>
            </a:outerShdw>
          </a:effectLst>
        </p:spPr>
      </p:pic>
      <p:cxnSp>
        <p:nvCxnSpPr>
          <p:cNvPr id="1148" name=""/>
          <p:cNvCxnSpPr>
            <a:stCxn id="1143" idx="2"/>
            <a:endCxn id="1138" idx="0"/>
          </p:cNvCxnSpPr>
          <p:nvPr/>
        </p:nvCxnSpPr>
        <p:spPr>
          <a:xfrm flipH="1" rot="16200000">
            <a:off x="4022280" y="4114440"/>
            <a:ext cx="454320" cy="3388320"/>
          </a:xfrm>
          <a:prstGeom prst="bentConnector3">
            <a:avLst>
              <a:gd name="adj1" fmla="val 39651"/>
            </a:avLst>
          </a:prstGeom>
          <a:ln w="1908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1149" name=""/>
          <p:cNvSpPr/>
          <p:nvPr/>
        </p:nvSpPr>
        <p:spPr>
          <a:xfrm>
            <a:off x="5943240" y="5545800"/>
            <a:ext cx="0" cy="48996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"/>
          <p:cNvSpPr/>
          <p:nvPr/>
        </p:nvSpPr>
        <p:spPr>
          <a:xfrm flipV="1">
            <a:off x="2599560" y="2358000"/>
            <a:ext cx="3344040" cy="28440"/>
          </a:xfrm>
          <a:prstGeom prst="line">
            <a:avLst/>
          </a:prstGeom>
          <a:ln w="19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-25920" bIns="-259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"/>
          <p:cNvSpPr/>
          <p:nvPr/>
        </p:nvSpPr>
        <p:spPr>
          <a:xfrm>
            <a:off x="2599560" y="2386440"/>
            <a:ext cx="0" cy="62532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2" name="" descr=""/>
          <p:cNvPicPr/>
          <p:nvPr/>
        </p:nvPicPr>
        <p:blipFill>
          <a:blip r:embed="rId8"/>
          <a:srcRect l="20954" t="51048" r="16154" b="36697"/>
          <a:stretch/>
        </p:blipFill>
        <p:spPr>
          <a:xfrm>
            <a:off x="1226520" y="2528640"/>
            <a:ext cx="27428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3" name=""/>
          <p:cNvSpPr txBox="1"/>
          <p:nvPr/>
        </p:nvSpPr>
        <p:spPr>
          <a:xfrm>
            <a:off x="6400800" y="19008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Original execution path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2972160" y="190080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New execution paths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00DCEBFB-493D-48EA-AC60-F97707BFF7AC}" type="slidenum">
              <a:t>20</a:t>
            </a:fld>
          </a:p>
        </p:txBody>
      </p: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9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Gordon Bell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"/>
          <p:cNvSpPr/>
          <p:nvPr/>
        </p:nvSpPr>
        <p:spPr>
          <a:xfrm>
            <a:off x="313200" y="1371600"/>
            <a:ext cx="1134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Extra slide if we get the GB award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6228EDB-916E-4A45-8F7B-407D24C86FBF}" type="slidenum">
              <a:t>21</a:t>
            </a:fld>
          </a:p>
        </p:txBody>
      </p:sp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25"/>
          <p:cNvSpPr/>
          <p:nvPr/>
        </p:nvSpPr>
        <p:spPr>
          <a:xfrm>
            <a:off x="191520" y="457200"/>
            <a:ext cx="11766240" cy="526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SIMT vs SIMD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"/>
          <p:cNvSpPr/>
          <p:nvPr/>
        </p:nvSpPr>
        <p:spPr>
          <a:xfrm>
            <a:off x="457200" y="3286080"/>
            <a:ext cx="11199240" cy="10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Gordon-Bell run was performed on SIMT-model machines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have worked on completing the transition from SIMT-model machine to a SIMD-only model and a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machine.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96ED57E8-251E-4A50-8D28-23619F6277CA}" type="slidenum">
              <a:t>22</a:t>
            </a:fld>
          </a:p>
        </p:txBody>
      </p:sp>
    </p:spTree>
  </p:cSld>
  <p:transition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37"/>
          <p:cNvSpPr/>
          <p:nvPr/>
        </p:nvSpPr>
        <p:spPr>
          <a:xfrm>
            <a:off x="191520" y="457200"/>
            <a:ext cx="11766240" cy="526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Layout Transformations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0" name="" descr=""/>
          <p:cNvPicPr/>
          <p:nvPr/>
        </p:nvPicPr>
        <p:blipFill>
          <a:blip r:embed="rId1"/>
          <a:stretch/>
        </p:blipFill>
        <p:spPr>
          <a:xfrm>
            <a:off x="457200" y="2851920"/>
            <a:ext cx="11198160" cy="309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1" name=""/>
          <p:cNvSpPr/>
          <p:nvPr/>
        </p:nvSpPr>
        <p:spPr>
          <a:xfrm>
            <a:off x="349200" y="1271520"/>
            <a:ext cx="11199240" cy="13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also optimized layouts of transient data to improve access coalescing and enable transformations from the SIMT model to SIMD model.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Layout transformations and branch-elimination is necessary to enable a complete transition from SIMT to SIMD model.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10C0E1FE-5F6A-4AF5-8536-34660D9A24E6}" type="slidenum">
              <a:t>23</a:t>
            </a:fld>
          </a:p>
        </p:txBody>
      </p:sp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39"/>
          <p:cNvSpPr/>
          <p:nvPr/>
        </p:nvSpPr>
        <p:spPr>
          <a:xfrm>
            <a:off x="191520" y="457200"/>
            <a:ext cx="11766240" cy="526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 Motivating Example for Layout Transformation from Weather Stencils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3" name="" descr=""/>
          <p:cNvPicPr/>
          <p:nvPr/>
        </p:nvPicPr>
        <p:blipFill>
          <a:blip r:embed="rId1"/>
          <a:stretch/>
        </p:blipFill>
        <p:spPr>
          <a:xfrm>
            <a:off x="2973240" y="1736640"/>
            <a:ext cx="5942160" cy="48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4" name=""/>
          <p:cNvSpPr txBox="1"/>
          <p:nvPr/>
        </p:nvSpPr>
        <p:spPr>
          <a:xfrm>
            <a:off x="228600" y="1143000"/>
            <a:ext cx="11201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Layout transformation enable the use of SIMD instructions for semi-structured weather stencils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5B2F064F-5CAA-4E72-93ED-E9405736529C}" type="slidenum">
              <a:t>24</a:t>
            </a:fld>
          </a:p>
        </p:txBody>
      </p:sp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0"/>
          <p:cNvSpPr/>
          <p:nvPr/>
        </p:nvSpPr>
        <p:spPr>
          <a:xfrm>
            <a:off x="228600" y="457200"/>
            <a:ext cx="11766240" cy="526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 Motivating Example for Layout Transformations from Weather Stencils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6" name="" descr=""/>
          <p:cNvPicPr/>
          <p:nvPr/>
        </p:nvPicPr>
        <p:blipFill>
          <a:blip r:embed="rId1"/>
          <a:stretch/>
        </p:blipFill>
        <p:spPr>
          <a:xfrm>
            <a:off x="3200400" y="1143000"/>
            <a:ext cx="5484960" cy="548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539BD227-91C7-46CC-8B7C-C1BB81315FFA}" type="slidenum">
              <a:t>25</a:t>
            </a:fld>
          </a:p>
        </p:txBody>
      </p: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PlaceHolder 14"/>
          <p:cNvSpPr/>
          <p:nvPr/>
        </p:nvSpPr>
        <p:spPr>
          <a:xfrm>
            <a:off x="191520" y="540720"/>
            <a:ext cx="11766240" cy="526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Layout Transformations On SoftHier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8" name="" descr=""/>
          <p:cNvPicPr/>
          <p:nvPr/>
        </p:nvPicPr>
        <p:blipFill>
          <a:blip r:embed="rId1"/>
          <a:stretch/>
        </p:blipFill>
        <p:spPr>
          <a:xfrm>
            <a:off x="2958840" y="1828800"/>
            <a:ext cx="6640920" cy="457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9" name=""/>
          <p:cNvSpPr/>
          <p:nvPr/>
        </p:nvSpPr>
        <p:spPr>
          <a:xfrm>
            <a:off x="228600" y="1236240"/>
            <a:ext cx="11657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layout transformations implemented in DaCe are also applicable to the SoftHier simulator, where it provides an all-to-all abstraction for both accesses over the NoC and the HBM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96"/>
          </p:nvPr>
        </p:nvSpPr>
        <p:spPr/>
        <p:txBody>
          <a:bodyPr/>
          <a:p>
            <a:fld id="{09AB184E-8ADF-40B7-ABF5-7909FE6EDBEB}" type="slidenum">
              <a:t>26</a:t>
            </a:fld>
          </a:p>
        </p:txBody>
      </p:sp>
    </p:spTree>
  </p:cSld>
  <p:transition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Title 1"/>
          <p:cNvSpPr/>
          <p:nvPr/>
        </p:nvSpPr>
        <p:spPr>
          <a:xfrm>
            <a:off x="191880" y="533880"/>
            <a:ext cx="11768400" cy="5284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Layout Transformations On SoftHier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1" name="" descr=""/>
          <p:cNvPicPr/>
          <p:nvPr/>
        </p:nvPicPr>
        <p:blipFill>
          <a:blip r:embed="rId1"/>
          <a:stretch/>
        </p:blipFill>
        <p:spPr>
          <a:xfrm>
            <a:off x="640080" y="2011680"/>
            <a:ext cx="10971360" cy="453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2" name=""/>
          <p:cNvSpPr/>
          <p:nvPr/>
        </p:nvSpPr>
        <p:spPr>
          <a:xfrm>
            <a:off x="421200" y="1371600"/>
            <a:ext cx="960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have helped in applying layout transformations for the SoftHier simulator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Title 5"/>
          <p:cNvSpPr/>
          <p:nvPr/>
        </p:nvSpPr>
        <p:spPr>
          <a:xfrm>
            <a:off x="191880" y="533880"/>
            <a:ext cx="11768400" cy="5284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Layout Transformations On SoftHier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4" name="" descr=""/>
          <p:cNvPicPr/>
          <p:nvPr/>
        </p:nvPicPr>
        <p:blipFill>
          <a:blip r:embed="rId1"/>
          <a:stretch/>
        </p:blipFill>
        <p:spPr>
          <a:xfrm>
            <a:off x="640080" y="2011680"/>
            <a:ext cx="10971360" cy="453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5" name=""/>
          <p:cNvSpPr/>
          <p:nvPr/>
        </p:nvSpPr>
        <p:spPr>
          <a:xfrm>
            <a:off x="457200" y="1208160"/>
            <a:ext cx="3656160" cy="1762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We identify the HBM-channel aware layout that depending on the computational kernel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"/>
          <p:cNvSpPr/>
          <p:nvPr/>
        </p:nvSpPr>
        <p:spPr>
          <a:xfrm>
            <a:off x="4572000" y="1226520"/>
            <a:ext cx="6857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have helped in applying layout transformations for the SoftHier simulator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Title 3"/>
          <p:cNvSpPr/>
          <p:nvPr/>
        </p:nvSpPr>
        <p:spPr>
          <a:xfrm>
            <a:off x="191880" y="533880"/>
            <a:ext cx="11768400" cy="5284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Layout Transformations On SoftHier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8" name="" descr=""/>
          <p:cNvPicPr/>
          <p:nvPr/>
        </p:nvPicPr>
        <p:blipFill>
          <a:blip r:embed="rId1"/>
          <a:stretch/>
        </p:blipFill>
        <p:spPr>
          <a:xfrm>
            <a:off x="1434240" y="2148480"/>
            <a:ext cx="2292120" cy="426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9" name="" descr=""/>
          <p:cNvPicPr/>
          <p:nvPr/>
        </p:nvPicPr>
        <p:blipFill>
          <a:blip r:embed="rId2"/>
          <a:stretch/>
        </p:blipFill>
        <p:spPr>
          <a:xfrm>
            <a:off x="4354560" y="2057400"/>
            <a:ext cx="6617880" cy="453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0" name=""/>
          <p:cNvSpPr/>
          <p:nvPr/>
        </p:nvSpPr>
        <p:spPr>
          <a:xfrm>
            <a:off x="1851480" y="5314680"/>
            <a:ext cx="62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1851840" y="5674680"/>
            <a:ext cx="624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"/>
          <p:cNvSpPr/>
          <p:nvPr/>
        </p:nvSpPr>
        <p:spPr>
          <a:xfrm>
            <a:off x="2245680" y="5314680"/>
            <a:ext cx="62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"/>
          <p:cNvSpPr/>
          <p:nvPr/>
        </p:nvSpPr>
        <p:spPr>
          <a:xfrm>
            <a:off x="2246040" y="5674680"/>
            <a:ext cx="624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"/>
          <p:cNvSpPr/>
          <p:nvPr/>
        </p:nvSpPr>
        <p:spPr>
          <a:xfrm>
            <a:off x="2639880" y="5314680"/>
            <a:ext cx="62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"/>
          <p:cNvSpPr/>
          <p:nvPr/>
        </p:nvSpPr>
        <p:spPr>
          <a:xfrm>
            <a:off x="2640240" y="5674680"/>
            <a:ext cx="624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>
            <a:off x="3034080" y="5314680"/>
            <a:ext cx="62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"/>
          <p:cNvSpPr/>
          <p:nvPr/>
        </p:nvSpPr>
        <p:spPr>
          <a:xfrm>
            <a:off x="3034440" y="5674680"/>
            <a:ext cx="624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"/>
          <p:cNvSpPr/>
          <p:nvPr/>
        </p:nvSpPr>
        <p:spPr>
          <a:xfrm>
            <a:off x="421200" y="1371600"/>
            <a:ext cx="960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have helped in applying layout transformations for the SoftHier simulator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9" name="" descr=""/>
          <p:cNvPicPr/>
          <p:nvPr/>
        </p:nvPicPr>
        <p:blipFill>
          <a:blip r:embed="rId1"/>
          <a:stretch/>
        </p:blipFill>
        <p:spPr>
          <a:xfrm>
            <a:off x="685800" y="1672920"/>
            <a:ext cx="10546920" cy="491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0" name="Title 2"/>
          <p:cNvSpPr/>
          <p:nvPr/>
        </p:nvSpPr>
        <p:spPr>
          <a:xfrm>
            <a:off x="191880" y="533880"/>
            <a:ext cx="11768400" cy="5284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Layout Transformations On SoftHier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"/>
          <p:cNvSpPr/>
          <p:nvPr/>
        </p:nvSpPr>
        <p:spPr>
          <a:xfrm>
            <a:off x="421200" y="1215720"/>
            <a:ext cx="960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Results obtained by a student supervised by Chi and Yakup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5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SoftHier on General Vectors: Auto-Vectorization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"/>
          <p:cNvSpPr/>
          <p:nvPr/>
        </p:nvSpPr>
        <p:spPr>
          <a:xfrm>
            <a:off x="313200" y="1371600"/>
            <a:ext cx="1134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Vector-Processors and Branches are Natural Enemies!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4" name="" descr=""/>
          <p:cNvPicPr/>
          <p:nvPr/>
        </p:nvPicPr>
        <p:blipFill>
          <a:blip r:embed="rId1"/>
          <a:stretch/>
        </p:blipFill>
        <p:spPr>
          <a:xfrm>
            <a:off x="2638800" y="1873440"/>
            <a:ext cx="6504480" cy="155484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pic>
        <p:nvPicPr>
          <p:cNvPr id="1195" name="" descr=""/>
          <p:cNvPicPr/>
          <p:nvPr/>
        </p:nvPicPr>
        <p:blipFill>
          <a:blip r:embed="rId2"/>
          <a:stretch/>
        </p:blipFill>
        <p:spPr>
          <a:xfrm>
            <a:off x="2286000" y="4800600"/>
            <a:ext cx="7142760" cy="13554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196" name=""/>
          <p:cNvSpPr/>
          <p:nvPr/>
        </p:nvSpPr>
        <p:spPr>
          <a:xfrm>
            <a:off x="5715000" y="3657600"/>
            <a:ext cx="360" cy="914400"/>
          </a:xfrm>
          <a:prstGeom prst="line">
            <a:avLst/>
          </a:prstGeom>
          <a:ln w="29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97" name=""/>
          <p:cNvSpPr/>
          <p:nvPr/>
        </p:nvSpPr>
        <p:spPr>
          <a:xfrm>
            <a:off x="5943600" y="3886200"/>
            <a:ext cx="5485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Eliminating branches is necessary for vectorization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A1EDE62-01E5-4BBD-B91D-E56BEABE4327}" type="slidenum">
              <a:t>31</a:t>
            </a:fld>
          </a:p>
        </p:txBody>
      </p:sp>
    </p:spTree>
  </p:cSld>
  <p:transition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5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DaCe Vectorization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"/>
          <p:cNvSpPr/>
          <p:nvPr/>
        </p:nvSpPr>
        <p:spPr>
          <a:xfrm>
            <a:off x="313200" y="1371600"/>
            <a:ext cx="11344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DataFlow IR and having the global-view of the program enables vectorization of patterns not vectorizable by traditional compilers such as LLVM: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0" name="" descr=""/>
          <p:cNvPicPr/>
          <p:nvPr/>
        </p:nvPicPr>
        <p:blipFill>
          <a:blip r:embed="rId1"/>
          <a:stretch/>
        </p:blipFill>
        <p:spPr>
          <a:xfrm>
            <a:off x="600480" y="2250720"/>
            <a:ext cx="5571000" cy="186336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201" name=""/>
          <p:cNvSpPr/>
          <p:nvPr/>
        </p:nvSpPr>
        <p:spPr>
          <a:xfrm>
            <a:off x="3886200" y="2570760"/>
            <a:ext cx="754308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Complete f1 can’t be vectorized by LLVM due to the indirect access!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"/>
          <p:cNvSpPr/>
          <p:nvPr/>
        </p:nvSpPr>
        <p:spPr>
          <a:xfrm>
            <a:off x="2743200" y="4114800"/>
            <a:ext cx="3200400" cy="1143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03" name="" descr=""/>
          <p:cNvPicPr/>
          <p:nvPr/>
        </p:nvPicPr>
        <p:blipFill>
          <a:blip r:embed="rId2"/>
          <a:stretch/>
        </p:blipFill>
        <p:spPr>
          <a:xfrm>
            <a:off x="5943600" y="3813480"/>
            <a:ext cx="5485680" cy="2784600"/>
          </a:xfrm>
          <a:prstGeom prst="rect">
            <a:avLst/>
          </a:prstGeom>
          <a:noFill/>
          <a:ln w="0">
            <a:noFill/>
          </a:ln>
          <a:effectLst>
            <a:outerShdw blurRad="0" dir="2700000" dist="101823" rotWithShape="0">
              <a:srgbClr val="808080"/>
            </a:outerShdw>
          </a:effectLst>
        </p:spPr>
      </p:pic>
      <p:sp>
        <p:nvSpPr>
          <p:cNvPr id="1204" name=""/>
          <p:cNvSpPr/>
          <p:nvPr/>
        </p:nvSpPr>
        <p:spPr>
          <a:xfrm>
            <a:off x="685800" y="5085360"/>
            <a:ext cx="479988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can vectorize the function f1 partially.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99787EE-9608-4D5A-ADE4-F756793A055C}" type="slidenum">
              <a:t>32</a:t>
            </a:fld>
          </a:p>
        </p:txBody>
      </p:sp>
    </p:spTree>
  </p:cSld>
  <p:transition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8"/>
          <p:cNvSpPr/>
          <p:nvPr/>
        </p:nvSpPr>
        <p:spPr>
          <a:xfrm>
            <a:off x="191520" y="540720"/>
            <a:ext cx="11761920" cy="522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0" rIns="14400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DaCe Vectorization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"/>
          <p:cNvSpPr/>
          <p:nvPr/>
        </p:nvSpPr>
        <p:spPr>
          <a:xfrm>
            <a:off x="313200" y="1371600"/>
            <a:ext cx="1134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Performance results TODO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FA1118E-F7DA-4855-A2D0-5481FD515B0B}" type="slidenum">
              <a:t>33</a:t>
            </a:fld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SPCL Presentation">
  <a:themeElements>
    <a:clrScheme name="SPCL Color Theme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PCL Presentation">
  <a:themeElements>
    <a:clrScheme name="SPCL Color Theme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PCL Presentation">
  <a:themeElements>
    <a:clrScheme name="SPCL Color Theme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PCL Presentation">
  <a:themeElements>
    <a:clrScheme name="SPCL Color Theme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PCL Presentation">
  <a:themeElements>
    <a:clrScheme name="Custom 3">
      <a:dk1>
        <a:srgbClr val="000000"/>
      </a:dk1>
      <a:lt1>
        <a:srgbClr val="ffffff"/>
      </a:lt1>
      <a:dk2>
        <a:srgbClr val="1269b0"/>
      </a:dk2>
      <a:lt2>
        <a:srgbClr val="555a15"/>
      </a:lt2>
      <a:accent1>
        <a:srgbClr val="72791c"/>
      </a:accent1>
      <a:accent2>
        <a:srgbClr val="91056a"/>
      </a:accent2>
      <a:accent3>
        <a:srgbClr val="6f6f64"/>
      </a:accent3>
      <a:accent4>
        <a:srgbClr val="a8322d"/>
      </a:accent4>
      <a:accent5>
        <a:srgbClr val="007a96"/>
      </a:accent5>
      <a:accent6>
        <a:srgbClr val="956013"/>
      </a:accent6>
      <a:hlink>
        <a:srgbClr val="1269b0"/>
      </a:hlink>
      <a:folHlink>
        <a:srgbClr val="8cb63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7005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2013-07-08T20:33:37Z</dcterms:created>
  <dc:creator>SPCL Members</dc:creator>
  <dc:description/>
  <dc:language>en-US</dc:language>
  <cp:lastModifiedBy/>
  <cp:lastPrinted>2025-09-16T11:53:36Z</cp:lastPrinted>
  <dcterms:modified xsi:type="dcterms:W3CDTF">2025-11-10T13:02:50Z</dcterms:modified>
  <cp:revision>2048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3</vt:r8>
  </property>
</Properties>
</file>